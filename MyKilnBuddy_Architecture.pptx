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9" r:id="rId4"/>
    <p:sldId id="260" r:id="rId5"/>
    <p:sldId id="258" r:id="rId6"/>
  </p:sldIdLst>
  <p:sldSz cx="9906000" cy="6858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42" d="100"/>
          <a:sy n="142" d="100"/>
        </p:scale>
        <p:origin x="1998" y="3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D160D4-E022-4322-8E02-FB7ADEE2C6AA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9DF2DF-4F18-45E1-9C5F-DEA0022F20B8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16836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D160D4-E022-4322-8E02-FB7ADEE2C6AA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9DF2DF-4F18-45E1-9C5F-DEA0022F20B8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39815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D160D4-E022-4322-8E02-FB7ADEE2C6AA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9DF2DF-4F18-45E1-9C5F-DEA0022F20B8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75584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D160D4-E022-4322-8E02-FB7ADEE2C6AA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9DF2DF-4F18-45E1-9C5F-DEA0022F20B8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86450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D160D4-E022-4322-8E02-FB7ADEE2C6AA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9DF2DF-4F18-45E1-9C5F-DEA0022F20B8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43916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D160D4-E022-4322-8E02-FB7ADEE2C6AA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9DF2DF-4F18-45E1-9C5F-DEA0022F20B8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90618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D160D4-E022-4322-8E02-FB7ADEE2C6AA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9DF2DF-4F18-45E1-9C5F-DEA0022F20B8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7562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D160D4-E022-4322-8E02-FB7ADEE2C6AA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9DF2DF-4F18-45E1-9C5F-DEA0022F20B8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68966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D160D4-E022-4322-8E02-FB7ADEE2C6AA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9DF2DF-4F18-45E1-9C5F-DEA0022F20B8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30963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D160D4-E022-4322-8E02-FB7ADEE2C6AA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9DF2DF-4F18-45E1-9C5F-DEA0022F20B8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66254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D160D4-E022-4322-8E02-FB7ADEE2C6AA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9DF2DF-4F18-45E1-9C5F-DEA0022F20B8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05871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D160D4-E022-4322-8E02-FB7ADEE2C6AA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49DF2DF-4F18-45E1-9C5F-DEA0022F20B8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20301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299B8FF-F064-EEDD-E45A-89C9FFAE958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 err="1"/>
              <a:t>MyKilnBuddy</a:t>
            </a:r>
            <a:endParaRPr lang="en-US" dirty="0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4FCA2FB0-B4F3-1DCE-F053-2654AAC9289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/>
              <a:t>A </a:t>
            </a:r>
            <a:r>
              <a:rPr lang="de-DE" dirty="0" err="1"/>
              <a:t>tool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get</a:t>
            </a:r>
            <a:r>
              <a:rPr lang="de-DE" dirty="0"/>
              <a:t> a live </a:t>
            </a:r>
            <a:r>
              <a:rPr lang="de-DE" dirty="0" err="1"/>
              <a:t>feed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kiln</a:t>
            </a:r>
            <a:r>
              <a:rPr lang="de-DE" dirty="0"/>
              <a:t> </a:t>
            </a:r>
            <a:r>
              <a:rPr lang="de-DE" dirty="0" err="1"/>
              <a:t>temperature</a:t>
            </a:r>
            <a:r>
              <a:rPr lang="de-DE" dirty="0"/>
              <a:t>, </a:t>
            </a:r>
            <a:r>
              <a:rPr lang="de-DE" dirty="0" err="1"/>
              <a:t>without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need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a </a:t>
            </a:r>
            <a:r>
              <a:rPr lang="de-DE" dirty="0" err="1"/>
              <a:t>connected</a:t>
            </a:r>
            <a:r>
              <a:rPr lang="de-DE" dirty="0"/>
              <a:t> </a:t>
            </a:r>
            <a:r>
              <a:rPr lang="de-DE" dirty="0" err="1"/>
              <a:t>controller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253881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1BD0B97-A08A-45A9-87CF-066C813B8B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System Architecture</a:t>
            </a:r>
            <a:endParaRPr lang="en-US" dirty="0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01487021-122C-3048-AD4A-91F5699D5C28}"/>
              </a:ext>
            </a:extLst>
          </p:cNvPr>
          <p:cNvSpPr/>
          <p:nvPr/>
        </p:nvSpPr>
        <p:spPr>
          <a:xfrm>
            <a:off x="1405218" y="4861111"/>
            <a:ext cx="1358153" cy="766483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>
                <a:latin typeface="Roboto" panose="02000000000000000000" pitchFamily="2" charset="0"/>
                <a:ea typeface="Roboto" panose="02000000000000000000" pitchFamily="2" charset="0"/>
              </a:rPr>
              <a:t>Kiln </a:t>
            </a:r>
            <a:r>
              <a:rPr lang="de-DE" sz="1200" dirty="0" err="1">
                <a:latin typeface="Roboto" panose="02000000000000000000" pitchFamily="2" charset="0"/>
                <a:ea typeface="Roboto" panose="02000000000000000000" pitchFamily="2" charset="0"/>
              </a:rPr>
              <a:t>Temperature</a:t>
            </a:r>
            <a:r>
              <a:rPr lang="de-DE" sz="1200" dirty="0">
                <a:latin typeface="Roboto" panose="02000000000000000000" pitchFamily="2" charset="0"/>
                <a:ea typeface="Roboto" panose="02000000000000000000" pitchFamily="2" charset="0"/>
              </a:rPr>
              <a:t> Display</a:t>
            </a:r>
            <a:endParaRPr lang="en-US" sz="12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B9FEAB63-9ACD-63B9-B25E-95C437618F61}"/>
              </a:ext>
            </a:extLst>
          </p:cNvPr>
          <p:cNvSpPr/>
          <p:nvPr/>
        </p:nvSpPr>
        <p:spPr>
          <a:xfrm>
            <a:off x="1405218" y="3926541"/>
            <a:ext cx="1358153" cy="766483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>
                <a:latin typeface="Roboto" panose="02000000000000000000" pitchFamily="2" charset="0"/>
                <a:ea typeface="Roboto" panose="02000000000000000000" pitchFamily="2" charset="0"/>
              </a:rPr>
              <a:t>USB-</a:t>
            </a:r>
            <a:r>
              <a:rPr lang="de-DE" sz="1200" dirty="0" err="1">
                <a:latin typeface="Roboto" panose="02000000000000000000" pitchFamily="2" charset="0"/>
                <a:ea typeface="Roboto" panose="02000000000000000000" pitchFamily="2" charset="0"/>
              </a:rPr>
              <a:t>Camera</a:t>
            </a:r>
            <a:endParaRPr lang="en-US" sz="12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DBAF364F-6994-FD06-FD80-F2CAB13D9245}"/>
              </a:ext>
            </a:extLst>
          </p:cNvPr>
          <p:cNvSpPr/>
          <p:nvPr/>
        </p:nvSpPr>
        <p:spPr>
          <a:xfrm>
            <a:off x="1405218" y="2991971"/>
            <a:ext cx="1358153" cy="766483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>
                <a:latin typeface="Roboto" panose="02000000000000000000" pitchFamily="2" charset="0"/>
                <a:ea typeface="Roboto" panose="02000000000000000000" pitchFamily="2" charset="0"/>
              </a:rPr>
              <a:t>Raspberry-Pi 3B</a:t>
            </a:r>
            <a:endParaRPr lang="en-US" sz="12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7" name="Zylinder 6">
            <a:extLst>
              <a:ext uri="{FF2B5EF4-FFF2-40B4-BE49-F238E27FC236}">
                <a16:creationId xmlns:a16="http://schemas.microsoft.com/office/drawing/2014/main" id="{DDBF933A-ACF5-D976-3130-57B85C5E473C}"/>
              </a:ext>
            </a:extLst>
          </p:cNvPr>
          <p:cNvSpPr/>
          <p:nvPr/>
        </p:nvSpPr>
        <p:spPr>
          <a:xfrm>
            <a:off x="4380378" y="1862417"/>
            <a:ext cx="1145243" cy="766483"/>
          </a:xfrm>
          <a:prstGeom prst="can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>
                <a:latin typeface="Roboto" panose="02000000000000000000" pitchFamily="2" charset="0"/>
                <a:ea typeface="Roboto" panose="02000000000000000000" pitchFamily="2" charset="0"/>
              </a:rPr>
              <a:t>Web-Backend (AWS?)</a:t>
            </a:r>
            <a:endParaRPr lang="en-US" sz="12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051AB7C7-DFE7-D9F4-F2CF-9D108EF47C1A}"/>
              </a:ext>
            </a:extLst>
          </p:cNvPr>
          <p:cNvSpPr/>
          <p:nvPr/>
        </p:nvSpPr>
        <p:spPr>
          <a:xfrm>
            <a:off x="7555004" y="2978524"/>
            <a:ext cx="1358153" cy="766483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>
                <a:latin typeface="Roboto" panose="02000000000000000000" pitchFamily="2" charset="0"/>
                <a:ea typeface="Roboto" panose="02000000000000000000" pitchFamily="2" charset="0"/>
              </a:rPr>
              <a:t>Mobile-App Frontend (Android)</a:t>
            </a:r>
            <a:endParaRPr lang="en-US" sz="12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44E961C6-3FD6-73A7-DC04-1E110A7595C1}"/>
              </a:ext>
            </a:extLst>
          </p:cNvPr>
          <p:cNvSpPr/>
          <p:nvPr/>
        </p:nvSpPr>
        <p:spPr>
          <a:xfrm>
            <a:off x="466166" y="2373405"/>
            <a:ext cx="3240741" cy="3892923"/>
          </a:xfrm>
          <a:prstGeom prst="ellipse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1F3C44A1-DA69-A02E-E76B-F7457351F7B1}"/>
              </a:ext>
            </a:extLst>
          </p:cNvPr>
          <p:cNvSpPr txBox="1"/>
          <p:nvPr/>
        </p:nvSpPr>
        <p:spPr>
          <a:xfrm>
            <a:off x="1328997" y="5843039"/>
            <a:ext cx="148816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 dirty="0"/>
              <a:t>Kiln </a:t>
            </a:r>
            <a:r>
              <a:rPr lang="de-DE" sz="1400" dirty="0" err="1"/>
              <a:t>local</a:t>
            </a:r>
            <a:r>
              <a:rPr lang="de-DE" sz="1400" dirty="0"/>
              <a:t> </a:t>
            </a:r>
            <a:r>
              <a:rPr lang="de-DE" sz="1400" dirty="0" err="1"/>
              <a:t>system</a:t>
            </a:r>
            <a:endParaRPr lang="en-US" sz="1400" dirty="0"/>
          </a:p>
        </p:txBody>
      </p: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712D4005-7D82-5527-7484-D5DBBD87737E}"/>
              </a:ext>
            </a:extLst>
          </p:cNvPr>
          <p:cNvCxnSpPr>
            <a:stCxn id="6" idx="0"/>
            <a:endCxn id="7" idx="2"/>
          </p:cNvCxnSpPr>
          <p:nvPr/>
        </p:nvCxnSpPr>
        <p:spPr>
          <a:xfrm flipV="1">
            <a:off x="2084295" y="2245659"/>
            <a:ext cx="2296083" cy="74631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5A8F9696-CF93-060C-E9DE-B9637F9C26B8}"/>
              </a:ext>
            </a:extLst>
          </p:cNvPr>
          <p:cNvCxnSpPr>
            <a:stCxn id="7" idx="4"/>
            <a:endCxn id="8" idx="0"/>
          </p:cNvCxnSpPr>
          <p:nvPr/>
        </p:nvCxnSpPr>
        <p:spPr>
          <a:xfrm>
            <a:off x="5525621" y="2245659"/>
            <a:ext cx="2708460" cy="73286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hteck 14">
            <a:extLst>
              <a:ext uri="{FF2B5EF4-FFF2-40B4-BE49-F238E27FC236}">
                <a16:creationId xmlns:a16="http://schemas.microsoft.com/office/drawing/2014/main" id="{61C60EBD-17C6-456E-5385-95D8EE48A7B8}"/>
              </a:ext>
            </a:extLst>
          </p:cNvPr>
          <p:cNvSpPr/>
          <p:nvPr/>
        </p:nvSpPr>
        <p:spPr>
          <a:xfrm>
            <a:off x="6879851" y="4094630"/>
            <a:ext cx="1358153" cy="766483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>
                <a:latin typeface="Roboto" panose="02000000000000000000" pitchFamily="2" charset="0"/>
                <a:ea typeface="Roboto" panose="02000000000000000000" pitchFamily="2" charset="0"/>
              </a:rPr>
              <a:t>Mobile-App Frontend (Android)</a:t>
            </a:r>
            <a:endParaRPr lang="en-US" sz="12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DEDDD2C8-5FAA-B807-9B60-A1BD0C46B237}"/>
              </a:ext>
            </a:extLst>
          </p:cNvPr>
          <p:cNvCxnSpPr>
            <a:stCxn id="7" idx="4"/>
            <a:endCxn id="15" idx="0"/>
          </p:cNvCxnSpPr>
          <p:nvPr/>
        </p:nvCxnSpPr>
        <p:spPr>
          <a:xfrm>
            <a:off x="5525621" y="2245659"/>
            <a:ext cx="2033307" cy="184897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F2892A01-2700-90FC-5B61-0F1C9C1E8EBF}"/>
              </a:ext>
            </a:extLst>
          </p:cNvPr>
          <p:cNvCxnSpPr>
            <a:cxnSpLocks/>
            <a:stCxn id="4" idx="0"/>
            <a:endCxn id="5" idx="2"/>
          </p:cNvCxnSpPr>
          <p:nvPr/>
        </p:nvCxnSpPr>
        <p:spPr>
          <a:xfrm flipV="1">
            <a:off x="2084295" y="4693024"/>
            <a:ext cx="0" cy="1680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73FE515F-B3BB-3383-9CED-13F2EB4CB7B1}"/>
              </a:ext>
            </a:extLst>
          </p:cNvPr>
          <p:cNvCxnSpPr>
            <a:stCxn id="5" idx="0"/>
            <a:endCxn id="6" idx="2"/>
          </p:cNvCxnSpPr>
          <p:nvPr/>
        </p:nvCxnSpPr>
        <p:spPr>
          <a:xfrm flipV="1">
            <a:off x="2084295" y="3758454"/>
            <a:ext cx="0" cy="1680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hteck 26">
            <a:extLst>
              <a:ext uri="{FF2B5EF4-FFF2-40B4-BE49-F238E27FC236}">
                <a16:creationId xmlns:a16="http://schemas.microsoft.com/office/drawing/2014/main" id="{743D3E22-8F6B-3EE0-3670-3749951E4BA6}"/>
              </a:ext>
            </a:extLst>
          </p:cNvPr>
          <p:cNvSpPr/>
          <p:nvPr/>
        </p:nvSpPr>
        <p:spPr>
          <a:xfrm>
            <a:off x="8137711" y="5688106"/>
            <a:ext cx="1358153" cy="2286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00" dirty="0">
                <a:latin typeface="Roboto" panose="02000000000000000000" pitchFamily="2" charset="0"/>
                <a:ea typeface="Roboto" panose="02000000000000000000" pitchFamily="2" charset="0"/>
              </a:rPr>
              <a:t>Electric </a:t>
            </a:r>
            <a:r>
              <a:rPr lang="de-DE" sz="1000" dirty="0" err="1">
                <a:latin typeface="Roboto" panose="02000000000000000000" pitchFamily="2" charset="0"/>
                <a:ea typeface="Roboto" panose="02000000000000000000" pitchFamily="2" charset="0"/>
              </a:rPr>
              <a:t>device</a:t>
            </a:r>
            <a:endParaRPr lang="en-US" sz="10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45A7C159-FEBD-1B67-72FB-2F65468A69C3}"/>
              </a:ext>
            </a:extLst>
          </p:cNvPr>
          <p:cNvSpPr/>
          <p:nvPr/>
        </p:nvSpPr>
        <p:spPr>
          <a:xfrm>
            <a:off x="8137711" y="5983480"/>
            <a:ext cx="1358153" cy="2286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00" dirty="0">
                <a:latin typeface="Roboto" panose="02000000000000000000" pitchFamily="2" charset="0"/>
                <a:ea typeface="Roboto" panose="02000000000000000000" pitchFamily="2" charset="0"/>
              </a:rPr>
              <a:t>Digital </a:t>
            </a:r>
            <a:r>
              <a:rPr lang="de-DE" sz="1000" dirty="0" err="1">
                <a:latin typeface="Roboto" panose="02000000000000000000" pitchFamily="2" charset="0"/>
                <a:ea typeface="Roboto" panose="02000000000000000000" pitchFamily="2" charset="0"/>
              </a:rPr>
              <a:t>device</a:t>
            </a:r>
            <a:endParaRPr lang="en-US" sz="10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CF84F256-E0CF-F142-6DA1-A75897A946C8}"/>
              </a:ext>
            </a:extLst>
          </p:cNvPr>
          <p:cNvSpPr/>
          <p:nvPr/>
        </p:nvSpPr>
        <p:spPr>
          <a:xfrm>
            <a:off x="8137711" y="6264273"/>
            <a:ext cx="1358153" cy="2286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00" dirty="0">
                <a:latin typeface="Roboto" panose="02000000000000000000" pitchFamily="2" charset="0"/>
                <a:ea typeface="Roboto" panose="02000000000000000000" pitchFamily="2" charset="0"/>
              </a:rPr>
              <a:t>Server</a:t>
            </a:r>
            <a:endParaRPr lang="en-US" sz="10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30" name="Textfeld 29">
            <a:extLst>
              <a:ext uri="{FF2B5EF4-FFF2-40B4-BE49-F238E27FC236}">
                <a16:creationId xmlns:a16="http://schemas.microsoft.com/office/drawing/2014/main" id="{202A6D70-CB53-E5BE-19D3-BBA73F4E944E}"/>
              </a:ext>
            </a:extLst>
          </p:cNvPr>
          <p:cNvSpPr txBox="1"/>
          <p:nvPr/>
        </p:nvSpPr>
        <p:spPr>
          <a:xfrm>
            <a:off x="2172504" y="4653957"/>
            <a:ext cx="66075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Photons</a:t>
            </a:r>
            <a:endParaRPr lang="en-US" sz="1000" dirty="0">
              <a:solidFill>
                <a:schemeClr val="tx1">
                  <a:lumMod val="50000"/>
                  <a:lumOff val="50000"/>
                </a:schemeClr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31" name="Textfeld 30">
            <a:extLst>
              <a:ext uri="{FF2B5EF4-FFF2-40B4-BE49-F238E27FC236}">
                <a16:creationId xmlns:a16="http://schemas.microsoft.com/office/drawing/2014/main" id="{BB1FE789-EDD9-9BCD-8638-0CBAC9F6DCC5}"/>
              </a:ext>
            </a:extLst>
          </p:cNvPr>
          <p:cNvSpPr txBox="1"/>
          <p:nvPr/>
        </p:nvSpPr>
        <p:spPr>
          <a:xfrm>
            <a:off x="2172504" y="3719386"/>
            <a:ext cx="140134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Digital </a:t>
            </a:r>
            <a:r>
              <a:rPr lang="de-DE" sz="10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picture</a:t>
            </a:r>
            <a:r>
              <a:rPr lang="de-DE" sz="1000" dirty="0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 stream</a:t>
            </a:r>
            <a:endParaRPr lang="en-US" sz="1000" dirty="0">
              <a:solidFill>
                <a:schemeClr val="tx1">
                  <a:lumMod val="50000"/>
                  <a:lumOff val="50000"/>
                </a:schemeClr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32" name="Textfeld 31">
            <a:extLst>
              <a:ext uri="{FF2B5EF4-FFF2-40B4-BE49-F238E27FC236}">
                <a16:creationId xmlns:a16="http://schemas.microsoft.com/office/drawing/2014/main" id="{A58B2F4F-E403-1463-2770-5117C2CCB9AD}"/>
              </a:ext>
            </a:extLst>
          </p:cNvPr>
          <p:cNvSpPr txBox="1"/>
          <p:nvPr/>
        </p:nvSpPr>
        <p:spPr>
          <a:xfrm>
            <a:off x="2179135" y="1666159"/>
            <a:ext cx="190789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get_current_temperature</a:t>
            </a:r>
            <a:r>
              <a:rPr lang="de-DE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()</a:t>
            </a:r>
          </a:p>
          <a:p>
            <a:r>
              <a:rPr lang="de-DE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update()</a:t>
            </a:r>
            <a:endParaRPr lang="en-US" sz="800" dirty="0">
              <a:solidFill>
                <a:schemeClr val="tx1">
                  <a:lumMod val="50000"/>
                  <a:lumOff val="50000"/>
                </a:schemeClr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  <a:p>
            <a:r>
              <a:rPr lang="en-US" sz="8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get_temperature_history</a:t>
            </a:r>
            <a:r>
              <a:rPr lang="en-US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(int seconds)</a:t>
            </a:r>
          </a:p>
          <a:p>
            <a:r>
              <a:rPr lang="en-US" sz="8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set_update_interval</a:t>
            </a:r>
            <a:r>
              <a:rPr lang="en-US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(int seconds)</a:t>
            </a:r>
          </a:p>
          <a:p>
            <a:r>
              <a:rPr lang="en-US" sz="8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register_status</a:t>
            </a:r>
            <a:r>
              <a:rPr lang="en-US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()</a:t>
            </a:r>
          </a:p>
        </p:txBody>
      </p:sp>
      <p:sp>
        <p:nvSpPr>
          <p:cNvPr id="33" name="Textfeld 32">
            <a:extLst>
              <a:ext uri="{FF2B5EF4-FFF2-40B4-BE49-F238E27FC236}">
                <a16:creationId xmlns:a16="http://schemas.microsoft.com/office/drawing/2014/main" id="{EFC09842-EC5E-BFAD-A0F0-196EAA83A176}"/>
              </a:ext>
            </a:extLst>
          </p:cNvPr>
          <p:cNvSpPr txBox="1"/>
          <p:nvPr/>
        </p:nvSpPr>
        <p:spPr>
          <a:xfrm>
            <a:off x="6670864" y="1927175"/>
            <a:ext cx="190789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get_current_temperature</a:t>
            </a:r>
            <a:r>
              <a:rPr lang="de-DE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()</a:t>
            </a:r>
          </a:p>
          <a:p>
            <a:r>
              <a:rPr lang="de-DE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update()</a:t>
            </a:r>
            <a:endParaRPr lang="en-US" sz="800" dirty="0">
              <a:solidFill>
                <a:schemeClr val="tx1">
                  <a:lumMod val="50000"/>
                  <a:lumOff val="50000"/>
                </a:schemeClr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  <a:p>
            <a:r>
              <a:rPr lang="en-US" sz="8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Get_temperature_history</a:t>
            </a:r>
            <a:r>
              <a:rPr lang="en-US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(int seconds)</a:t>
            </a:r>
          </a:p>
          <a:p>
            <a:r>
              <a:rPr lang="en-US" sz="8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Set_update_interval</a:t>
            </a:r>
            <a:r>
              <a:rPr lang="en-US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(int seconds)</a:t>
            </a: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1D67D9DE-7934-A293-421D-A22EDDAFA57C}"/>
              </a:ext>
            </a:extLst>
          </p:cNvPr>
          <p:cNvSpPr/>
          <p:nvPr/>
        </p:nvSpPr>
        <p:spPr>
          <a:xfrm>
            <a:off x="4273923" y="4528934"/>
            <a:ext cx="1358153" cy="766483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>
                <a:latin typeface="Roboto" panose="02000000000000000000" pitchFamily="2" charset="0"/>
                <a:ea typeface="Roboto" panose="02000000000000000000" pitchFamily="2" charset="0"/>
              </a:rPr>
              <a:t>Admin Frontend</a:t>
            </a:r>
            <a:endParaRPr lang="en-US" sz="12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FB1213EE-F4C6-B406-497B-FDE0EDD6E58F}"/>
              </a:ext>
            </a:extLst>
          </p:cNvPr>
          <p:cNvCxnSpPr>
            <a:stCxn id="7" idx="3"/>
            <a:endCxn id="35" idx="0"/>
          </p:cNvCxnSpPr>
          <p:nvPr/>
        </p:nvCxnSpPr>
        <p:spPr>
          <a:xfrm>
            <a:off x="4953000" y="2628900"/>
            <a:ext cx="0" cy="190003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feld 39">
            <a:extLst>
              <a:ext uri="{FF2B5EF4-FFF2-40B4-BE49-F238E27FC236}">
                <a16:creationId xmlns:a16="http://schemas.microsoft.com/office/drawing/2014/main" id="{E78742E9-20BF-BA48-F05A-BF0BB6770B31}"/>
              </a:ext>
            </a:extLst>
          </p:cNvPr>
          <p:cNvSpPr txBox="1"/>
          <p:nvPr/>
        </p:nvSpPr>
        <p:spPr>
          <a:xfrm>
            <a:off x="4952999" y="3330232"/>
            <a:ext cx="1167307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add_new_user</a:t>
            </a:r>
            <a:r>
              <a:rPr lang="de-DE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(</a:t>
            </a:r>
            <a:r>
              <a:rPr lang="de-DE" sz="8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id</a:t>
            </a:r>
            <a:r>
              <a:rPr lang="de-DE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)</a:t>
            </a:r>
          </a:p>
          <a:p>
            <a:r>
              <a:rPr lang="de-DE" sz="8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add_new_source</a:t>
            </a:r>
            <a:r>
              <a:rPr lang="de-DE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(</a:t>
            </a:r>
            <a:r>
              <a:rPr lang="de-DE" sz="8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id</a:t>
            </a:r>
            <a:r>
              <a:rPr lang="de-DE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)</a:t>
            </a:r>
          </a:p>
          <a:p>
            <a:r>
              <a:rPr lang="de-DE" sz="8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add_link</a:t>
            </a:r>
            <a:r>
              <a:rPr lang="de-DE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(</a:t>
            </a:r>
            <a:r>
              <a:rPr lang="de-DE" sz="8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id</a:t>
            </a:r>
            <a:r>
              <a:rPr lang="de-DE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de-DE" sz="8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id</a:t>
            </a:r>
            <a:r>
              <a:rPr lang="de-DE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)</a:t>
            </a:r>
          </a:p>
          <a:p>
            <a:r>
              <a:rPr lang="de-DE" sz="8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remove_user</a:t>
            </a:r>
            <a:r>
              <a:rPr lang="de-DE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(</a:t>
            </a:r>
            <a:r>
              <a:rPr lang="de-DE" sz="8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id</a:t>
            </a:r>
            <a:r>
              <a:rPr lang="de-DE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)</a:t>
            </a:r>
          </a:p>
          <a:p>
            <a:r>
              <a:rPr lang="de-DE" sz="8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remove_source</a:t>
            </a:r>
            <a:r>
              <a:rPr lang="de-DE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(</a:t>
            </a:r>
            <a:r>
              <a:rPr lang="de-DE" sz="8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id</a:t>
            </a:r>
            <a:r>
              <a:rPr lang="de-DE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)</a:t>
            </a:r>
          </a:p>
          <a:p>
            <a:r>
              <a:rPr lang="de-DE" sz="8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remove_link</a:t>
            </a:r>
            <a:r>
              <a:rPr lang="de-DE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(</a:t>
            </a:r>
            <a:r>
              <a:rPr lang="de-DE" sz="8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id</a:t>
            </a:r>
            <a:r>
              <a:rPr lang="de-DE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de-DE" sz="8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id</a:t>
            </a:r>
            <a:r>
              <a:rPr lang="de-DE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)</a:t>
            </a:r>
            <a:endParaRPr lang="en-US" sz="800" dirty="0">
              <a:solidFill>
                <a:schemeClr val="tx1">
                  <a:lumMod val="50000"/>
                  <a:lumOff val="50000"/>
                </a:schemeClr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  <a:p>
            <a:r>
              <a:rPr lang="en-US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backup()</a:t>
            </a:r>
          </a:p>
          <a:p>
            <a:r>
              <a:rPr lang="en-US" sz="8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load_backup</a:t>
            </a:r>
            <a:r>
              <a:rPr lang="en-US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(backup)</a:t>
            </a: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EFEEA0F9-CDD0-5E07-1C7F-AE34EDCB0323}"/>
              </a:ext>
            </a:extLst>
          </p:cNvPr>
          <p:cNvSpPr/>
          <p:nvPr/>
        </p:nvSpPr>
        <p:spPr>
          <a:xfrm>
            <a:off x="8137711" y="6545066"/>
            <a:ext cx="1358153" cy="22860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00" dirty="0">
                <a:latin typeface="Roboto" panose="02000000000000000000" pitchFamily="2" charset="0"/>
                <a:ea typeface="Roboto" panose="02000000000000000000" pitchFamily="2" charset="0"/>
              </a:rPr>
              <a:t>Web frontend</a:t>
            </a:r>
            <a:endParaRPr lang="en-US" sz="10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pic>
        <p:nvPicPr>
          <p:cNvPr id="44" name="Grafik 43" descr="Zusammendrücken Vergrößern mit einfarbiger Füllung">
            <a:extLst>
              <a:ext uri="{FF2B5EF4-FFF2-40B4-BE49-F238E27FC236}">
                <a16:creationId xmlns:a16="http://schemas.microsoft.com/office/drawing/2014/main" id="{E2B7B65D-D442-B535-80A7-C731F15B9C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28665" y="5033682"/>
            <a:ext cx="593912" cy="593912"/>
          </a:xfrm>
          <a:prstGeom prst="rect">
            <a:avLst/>
          </a:prstGeom>
        </p:spPr>
      </p:pic>
      <p:pic>
        <p:nvPicPr>
          <p:cNvPr id="45" name="Grafik 44" descr="Zusammendrücken Vergrößern mit einfarbiger Füllung">
            <a:extLst>
              <a:ext uri="{FF2B5EF4-FFF2-40B4-BE49-F238E27FC236}">
                <a16:creationId xmlns:a16="http://schemas.microsoft.com/office/drawing/2014/main" id="{EDDDB6BA-BFA6-F356-1F22-F49C3F25595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937124" y="4528934"/>
            <a:ext cx="593912" cy="593912"/>
          </a:xfrm>
          <a:prstGeom prst="rect">
            <a:avLst/>
          </a:prstGeom>
        </p:spPr>
      </p:pic>
      <p:pic>
        <p:nvPicPr>
          <p:cNvPr id="46" name="Grafik 45" descr="Zusammendrücken Vergrößern mit einfarbiger Füllung">
            <a:extLst>
              <a:ext uri="{FF2B5EF4-FFF2-40B4-BE49-F238E27FC236}">
                <a16:creationId xmlns:a16="http://schemas.microsoft.com/office/drawing/2014/main" id="{3DD237AB-717E-28F9-C222-D32F9CDC2C4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631051" y="3429000"/>
            <a:ext cx="593912" cy="593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90897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B7748E-15A3-A115-5980-F523362A4D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7919537-75A4-B1F7-DFE9-9D40EC4CCB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Security Architecture</a:t>
            </a:r>
            <a:endParaRPr lang="en-US" dirty="0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7AAE44BF-A276-9D3D-4A52-5CBBA59E5DA7}"/>
              </a:ext>
            </a:extLst>
          </p:cNvPr>
          <p:cNvSpPr/>
          <p:nvPr/>
        </p:nvSpPr>
        <p:spPr>
          <a:xfrm>
            <a:off x="1405218" y="4861111"/>
            <a:ext cx="1358153" cy="766483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>
                <a:latin typeface="Roboto" panose="02000000000000000000" pitchFamily="2" charset="0"/>
                <a:ea typeface="Roboto" panose="02000000000000000000" pitchFamily="2" charset="0"/>
              </a:rPr>
              <a:t>Kiln </a:t>
            </a:r>
            <a:r>
              <a:rPr lang="de-DE" sz="1200" dirty="0" err="1">
                <a:latin typeface="Roboto" panose="02000000000000000000" pitchFamily="2" charset="0"/>
                <a:ea typeface="Roboto" panose="02000000000000000000" pitchFamily="2" charset="0"/>
              </a:rPr>
              <a:t>Temperature</a:t>
            </a:r>
            <a:r>
              <a:rPr lang="de-DE" sz="1200" dirty="0">
                <a:latin typeface="Roboto" panose="02000000000000000000" pitchFamily="2" charset="0"/>
                <a:ea typeface="Roboto" panose="02000000000000000000" pitchFamily="2" charset="0"/>
              </a:rPr>
              <a:t> Display</a:t>
            </a:r>
            <a:endParaRPr lang="en-US" sz="12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2A634232-C964-3450-3BFC-B80DCD0B8112}"/>
              </a:ext>
            </a:extLst>
          </p:cNvPr>
          <p:cNvSpPr/>
          <p:nvPr/>
        </p:nvSpPr>
        <p:spPr>
          <a:xfrm>
            <a:off x="1405218" y="3926541"/>
            <a:ext cx="1358153" cy="766483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>
                <a:latin typeface="Roboto" panose="02000000000000000000" pitchFamily="2" charset="0"/>
                <a:ea typeface="Roboto" panose="02000000000000000000" pitchFamily="2" charset="0"/>
              </a:rPr>
              <a:t>USB-</a:t>
            </a:r>
            <a:r>
              <a:rPr lang="de-DE" sz="1200" dirty="0" err="1">
                <a:latin typeface="Roboto" panose="02000000000000000000" pitchFamily="2" charset="0"/>
                <a:ea typeface="Roboto" panose="02000000000000000000" pitchFamily="2" charset="0"/>
              </a:rPr>
              <a:t>Camera</a:t>
            </a:r>
            <a:endParaRPr lang="en-US" sz="12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297A291D-B0B1-BCCB-A2A9-92442AA3D1AF}"/>
              </a:ext>
            </a:extLst>
          </p:cNvPr>
          <p:cNvSpPr/>
          <p:nvPr/>
        </p:nvSpPr>
        <p:spPr>
          <a:xfrm>
            <a:off x="1405218" y="2991971"/>
            <a:ext cx="1358153" cy="766483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>
                <a:latin typeface="Roboto" panose="02000000000000000000" pitchFamily="2" charset="0"/>
                <a:ea typeface="Roboto" panose="02000000000000000000" pitchFamily="2" charset="0"/>
              </a:rPr>
              <a:t>Raspberry-Pi 3B</a:t>
            </a:r>
            <a:endParaRPr lang="en-US" sz="12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7" name="Zylinder 6">
            <a:extLst>
              <a:ext uri="{FF2B5EF4-FFF2-40B4-BE49-F238E27FC236}">
                <a16:creationId xmlns:a16="http://schemas.microsoft.com/office/drawing/2014/main" id="{4944C85C-9BD1-D996-A4DA-194549A0F025}"/>
              </a:ext>
            </a:extLst>
          </p:cNvPr>
          <p:cNvSpPr/>
          <p:nvPr/>
        </p:nvSpPr>
        <p:spPr>
          <a:xfrm>
            <a:off x="4380378" y="1862417"/>
            <a:ext cx="1145243" cy="766483"/>
          </a:xfrm>
          <a:prstGeom prst="can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>
                <a:latin typeface="Roboto" panose="02000000000000000000" pitchFamily="2" charset="0"/>
                <a:ea typeface="Roboto" panose="02000000000000000000" pitchFamily="2" charset="0"/>
              </a:rPr>
              <a:t>Web-Backend (AWS?)</a:t>
            </a:r>
            <a:endParaRPr lang="en-US" sz="12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85694732-A699-FC36-22AC-113A605CFF4E}"/>
              </a:ext>
            </a:extLst>
          </p:cNvPr>
          <p:cNvSpPr/>
          <p:nvPr/>
        </p:nvSpPr>
        <p:spPr>
          <a:xfrm>
            <a:off x="7555004" y="2978524"/>
            <a:ext cx="1358153" cy="766483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>
                <a:latin typeface="Roboto" panose="02000000000000000000" pitchFamily="2" charset="0"/>
                <a:ea typeface="Roboto" panose="02000000000000000000" pitchFamily="2" charset="0"/>
              </a:rPr>
              <a:t>Mobile-App Frontend (Android)</a:t>
            </a:r>
            <a:endParaRPr lang="en-US" sz="12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F7A0A8D7-22CF-9A3D-585D-05EEDFE8F114}"/>
              </a:ext>
            </a:extLst>
          </p:cNvPr>
          <p:cNvSpPr/>
          <p:nvPr/>
        </p:nvSpPr>
        <p:spPr>
          <a:xfrm>
            <a:off x="466166" y="2373405"/>
            <a:ext cx="3240741" cy="3892923"/>
          </a:xfrm>
          <a:prstGeom prst="ellipse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3A857737-E4D4-61DF-6201-35C51242829C}"/>
              </a:ext>
            </a:extLst>
          </p:cNvPr>
          <p:cNvSpPr txBox="1"/>
          <p:nvPr/>
        </p:nvSpPr>
        <p:spPr>
          <a:xfrm>
            <a:off x="848763" y="6264273"/>
            <a:ext cx="247106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 dirty="0"/>
              <a:t>Security </a:t>
            </a:r>
            <a:r>
              <a:rPr lang="de-DE" sz="1400" dirty="0" err="1"/>
              <a:t>by</a:t>
            </a:r>
            <a:r>
              <a:rPr lang="de-DE" sz="1400" dirty="0"/>
              <a:t> </a:t>
            </a:r>
            <a:r>
              <a:rPr lang="de-DE" sz="1400" dirty="0" err="1"/>
              <a:t>physical</a:t>
            </a:r>
            <a:r>
              <a:rPr lang="de-DE" sz="1400" dirty="0"/>
              <a:t> </a:t>
            </a:r>
            <a:r>
              <a:rPr lang="de-DE" sz="1400" dirty="0" err="1"/>
              <a:t>proximity</a:t>
            </a:r>
            <a:endParaRPr lang="en-US" sz="1400" dirty="0"/>
          </a:p>
        </p:txBody>
      </p: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C0931B17-5128-99CC-FD0D-4A5E4CA0E03E}"/>
              </a:ext>
            </a:extLst>
          </p:cNvPr>
          <p:cNvCxnSpPr>
            <a:stCxn id="6" idx="0"/>
            <a:endCxn id="7" idx="2"/>
          </p:cNvCxnSpPr>
          <p:nvPr/>
        </p:nvCxnSpPr>
        <p:spPr>
          <a:xfrm flipV="1">
            <a:off x="2084295" y="2245659"/>
            <a:ext cx="2296083" cy="74631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D72AF6D9-6044-56C2-F9B2-EC7E3A664BA6}"/>
              </a:ext>
            </a:extLst>
          </p:cNvPr>
          <p:cNvCxnSpPr>
            <a:stCxn id="7" idx="4"/>
            <a:endCxn id="8" idx="0"/>
          </p:cNvCxnSpPr>
          <p:nvPr/>
        </p:nvCxnSpPr>
        <p:spPr>
          <a:xfrm>
            <a:off x="5525621" y="2245659"/>
            <a:ext cx="2708460" cy="73286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hteck 14">
            <a:extLst>
              <a:ext uri="{FF2B5EF4-FFF2-40B4-BE49-F238E27FC236}">
                <a16:creationId xmlns:a16="http://schemas.microsoft.com/office/drawing/2014/main" id="{058905DA-8571-6E67-C979-F88145BBF448}"/>
              </a:ext>
            </a:extLst>
          </p:cNvPr>
          <p:cNvSpPr/>
          <p:nvPr/>
        </p:nvSpPr>
        <p:spPr>
          <a:xfrm>
            <a:off x="6879851" y="4094630"/>
            <a:ext cx="1358153" cy="766483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>
                <a:latin typeface="Roboto" panose="02000000000000000000" pitchFamily="2" charset="0"/>
                <a:ea typeface="Roboto" panose="02000000000000000000" pitchFamily="2" charset="0"/>
              </a:rPr>
              <a:t>Mobile-App Frontend (Android)</a:t>
            </a:r>
            <a:endParaRPr lang="en-US" sz="12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8D8AEC4B-FCCC-E6E2-7159-A48861235235}"/>
              </a:ext>
            </a:extLst>
          </p:cNvPr>
          <p:cNvCxnSpPr>
            <a:stCxn id="7" idx="4"/>
            <a:endCxn id="15" idx="0"/>
          </p:cNvCxnSpPr>
          <p:nvPr/>
        </p:nvCxnSpPr>
        <p:spPr>
          <a:xfrm>
            <a:off x="5525621" y="2245659"/>
            <a:ext cx="2033307" cy="184897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185ADCF3-E929-1B58-2E18-67661C5EA2CF}"/>
              </a:ext>
            </a:extLst>
          </p:cNvPr>
          <p:cNvCxnSpPr>
            <a:cxnSpLocks/>
            <a:stCxn id="4" idx="0"/>
            <a:endCxn id="5" idx="2"/>
          </p:cNvCxnSpPr>
          <p:nvPr/>
        </p:nvCxnSpPr>
        <p:spPr>
          <a:xfrm flipV="1">
            <a:off x="2084295" y="4693024"/>
            <a:ext cx="0" cy="1680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A739A2C3-8434-4802-329A-9EAB4DD99E54}"/>
              </a:ext>
            </a:extLst>
          </p:cNvPr>
          <p:cNvCxnSpPr>
            <a:stCxn id="5" idx="0"/>
            <a:endCxn id="6" idx="2"/>
          </p:cNvCxnSpPr>
          <p:nvPr/>
        </p:nvCxnSpPr>
        <p:spPr>
          <a:xfrm flipV="1">
            <a:off x="2084295" y="3758454"/>
            <a:ext cx="0" cy="1680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hteck 26">
            <a:extLst>
              <a:ext uri="{FF2B5EF4-FFF2-40B4-BE49-F238E27FC236}">
                <a16:creationId xmlns:a16="http://schemas.microsoft.com/office/drawing/2014/main" id="{4E550215-D2E0-5B52-831E-6AD257FFA8CE}"/>
              </a:ext>
            </a:extLst>
          </p:cNvPr>
          <p:cNvSpPr/>
          <p:nvPr/>
        </p:nvSpPr>
        <p:spPr>
          <a:xfrm>
            <a:off x="8137711" y="5688106"/>
            <a:ext cx="1358153" cy="2286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00" dirty="0">
                <a:latin typeface="Roboto" panose="02000000000000000000" pitchFamily="2" charset="0"/>
                <a:ea typeface="Roboto" panose="02000000000000000000" pitchFamily="2" charset="0"/>
              </a:rPr>
              <a:t>Electric </a:t>
            </a:r>
            <a:r>
              <a:rPr lang="de-DE" sz="1000" dirty="0" err="1">
                <a:latin typeface="Roboto" panose="02000000000000000000" pitchFamily="2" charset="0"/>
                <a:ea typeface="Roboto" panose="02000000000000000000" pitchFamily="2" charset="0"/>
              </a:rPr>
              <a:t>device</a:t>
            </a:r>
            <a:endParaRPr lang="en-US" sz="10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AD40BCF2-3DF8-A4BD-7B2D-9A988FA3D5C3}"/>
              </a:ext>
            </a:extLst>
          </p:cNvPr>
          <p:cNvSpPr/>
          <p:nvPr/>
        </p:nvSpPr>
        <p:spPr>
          <a:xfrm>
            <a:off x="8137711" y="5983480"/>
            <a:ext cx="1358153" cy="2286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00" dirty="0">
                <a:latin typeface="Roboto" panose="02000000000000000000" pitchFamily="2" charset="0"/>
                <a:ea typeface="Roboto" panose="02000000000000000000" pitchFamily="2" charset="0"/>
              </a:rPr>
              <a:t>Digital </a:t>
            </a:r>
            <a:r>
              <a:rPr lang="de-DE" sz="1000" dirty="0" err="1">
                <a:latin typeface="Roboto" panose="02000000000000000000" pitchFamily="2" charset="0"/>
                <a:ea typeface="Roboto" panose="02000000000000000000" pitchFamily="2" charset="0"/>
              </a:rPr>
              <a:t>device</a:t>
            </a:r>
            <a:endParaRPr lang="en-US" sz="10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8CE7E999-F076-439C-80E7-DB6EB34D9E88}"/>
              </a:ext>
            </a:extLst>
          </p:cNvPr>
          <p:cNvSpPr/>
          <p:nvPr/>
        </p:nvSpPr>
        <p:spPr>
          <a:xfrm>
            <a:off x="8137711" y="6264273"/>
            <a:ext cx="1358153" cy="2286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00" dirty="0">
                <a:latin typeface="Roboto" panose="02000000000000000000" pitchFamily="2" charset="0"/>
                <a:ea typeface="Roboto" panose="02000000000000000000" pitchFamily="2" charset="0"/>
              </a:rPr>
              <a:t>Server</a:t>
            </a:r>
            <a:endParaRPr lang="en-US" sz="10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30" name="Textfeld 29">
            <a:extLst>
              <a:ext uri="{FF2B5EF4-FFF2-40B4-BE49-F238E27FC236}">
                <a16:creationId xmlns:a16="http://schemas.microsoft.com/office/drawing/2014/main" id="{20A42039-F608-6222-6EDE-839DE24BFF8F}"/>
              </a:ext>
            </a:extLst>
          </p:cNvPr>
          <p:cNvSpPr txBox="1"/>
          <p:nvPr/>
        </p:nvSpPr>
        <p:spPr>
          <a:xfrm>
            <a:off x="2172504" y="4653957"/>
            <a:ext cx="66075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Photons</a:t>
            </a:r>
            <a:endParaRPr lang="en-US" sz="1000" dirty="0">
              <a:solidFill>
                <a:schemeClr val="tx1">
                  <a:lumMod val="50000"/>
                  <a:lumOff val="50000"/>
                </a:schemeClr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31" name="Textfeld 30">
            <a:extLst>
              <a:ext uri="{FF2B5EF4-FFF2-40B4-BE49-F238E27FC236}">
                <a16:creationId xmlns:a16="http://schemas.microsoft.com/office/drawing/2014/main" id="{2939B22F-F784-57A0-3761-693A84E0AF2B}"/>
              </a:ext>
            </a:extLst>
          </p:cNvPr>
          <p:cNvSpPr txBox="1"/>
          <p:nvPr/>
        </p:nvSpPr>
        <p:spPr>
          <a:xfrm>
            <a:off x="2172504" y="3719386"/>
            <a:ext cx="140134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Digital </a:t>
            </a:r>
            <a:r>
              <a:rPr lang="de-DE" sz="10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picture</a:t>
            </a:r>
            <a:r>
              <a:rPr lang="de-DE" sz="1000" dirty="0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 stream</a:t>
            </a:r>
            <a:endParaRPr lang="en-US" sz="1000" dirty="0">
              <a:solidFill>
                <a:schemeClr val="tx1">
                  <a:lumMod val="50000"/>
                  <a:lumOff val="50000"/>
                </a:schemeClr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32" name="Textfeld 31">
            <a:extLst>
              <a:ext uri="{FF2B5EF4-FFF2-40B4-BE49-F238E27FC236}">
                <a16:creationId xmlns:a16="http://schemas.microsoft.com/office/drawing/2014/main" id="{FB9ADFBF-FF84-8757-DDF1-C90C73FAD480}"/>
              </a:ext>
            </a:extLst>
          </p:cNvPr>
          <p:cNvSpPr txBox="1"/>
          <p:nvPr/>
        </p:nvSpPr>
        <p:spPr>
          <a:xfrm>
            <a:off x="2535189" y="2075653"/>
            <a:ext cx="190789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get_current_temperature</a:t>
            </a:r>
            <a:r>
              <a:rPr lang="de-DE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()</a:t>
            </a:r>
          </a:p>
          <a:p>
            <a:r>
              <a:rPr lang="de-DE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update()</a:t>
            </a:r>
            <a:endParaRPr lang="en-US" sz="800" dirty="0">
              <a:solidFill>
                <a:schemeClr val="tx1">
                  <a:lumMod val="50000"/>
                  <a:lumOff val="50000"/>
                </a:schemeClr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  <a:p>
            <a:r>
              <a:rPr lang="en-US" sz="8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get_temperature_history</a:t>
            </a:r>
            <a:r>
              <a:rPr lang="en-US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(int seconds)</a:t>
            </a:r>
          </a:p>
          <a:p>
            <a:r>
              <a:rPr lang="en-US" sz="8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set_update_interval</a:t>
            </a:r>
            <a:r>
              <a:rPr lang="en-US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(int seconds)</a:t>
            </a:r>
          </a:p>
          <a:p>
            <a:r>
              <a:rPr lang="en-US" sz="8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register_status</a:t>
            </a:r>
            <a:r>
              <a:rPr lang="en-US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()</a:t>
            </a:r>
          </a:p>
        </p:txBody>
      </p:sp>
      <p:sp>
        <p:nvSpPr>
          <p:cNvPr id="33" name="Textfeld 32">
            <a:extLst>
              <a:ext uri="{FF2B5EF4-FFF2-40B4-BE49-F238E27FC236}">
                <a16:creationId xmlns:a16="http://schemas.microsoft.com/office/drawing/2014/main" id="{BCF7CB91-96EC-768C-C609-EC1B06AD002B}"/>
              </a:ext>
            </a:extLst>
          </p:cNvPr>
          <p:cNvSpPr txBox="1"/>
          <p:nvPr/>
        </p:nvSpPr>
        <p:spPr>
          <a:xfrm>
            <a:off x="6670864" y="1927175"/>
            <a:ext cx="190789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get_current_temperature</a:t>
            </a:r>
            <a:r>
              <a:rPr lang="de-DE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()</a:t>
            </a:r>
          </a:p>
          <a:p>
            <a:r>
              <a:rPr lang="de-DE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update()</a:t>
            </a:r>
            <a:endParaRPr lang="en-US" sz="800" dirty="0">
              <a:solidFill>
                <a:schemeClr val="tx1">
                  <a:lumMod val="50000"/>
                  <a:lumOff val="50000"/>
                </a:schemeClr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  <a:p>
            <a:r>
              <a:rPr lang="en-US" sz="8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Get_temperature_history</a:t>
            </a:r>
            <a:r>
              <a:rPr lang="en-US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(int seconds)</a:t>
            </a:r>
          </a:p>
          <a:p>
            <a:r>
              <a:rPr lang="en-US" sz="8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Set_update_interval</a:t>
            </a:r>
            <a:r>
              <a:rPr lang="en-US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(int seconds)</a:t>
            </a: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57558249-092D-38F5-F3A5-BB6F26B62E27}"/>
              </a:ext>
            </a:extLst>
          </p:cNvPr>
          <p:cNvSpPr/>
          <p:nvPr/>
        </p:nvSpPr>
        <p:spPr>
          <a:xfrm>
            <a:off x="4273923" y="4528934"/>
            <a:ext cx="1358153" cy="766483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>
                <a:latin typeface="Roboto" panose="02000000000000000000" pitchFamily="2" charset="0"/>
                <a:ea typeface="Roboto" panose="02000000000000000000" pitchFamily="2" charset="0"/>
              </a:rPr>
              <a:t>Admin Frontend</a:t>
            </a:r>
            <a:endParaRPr lang="en-US" sz="12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101CFBEE-75FB-5E34-9CEB-22BC6763F311}"/>
              </a:ext>
            </a:extLst>
          </p:cNvPr>
          <p:cNvCxnSpPr>
            <a:stCxn id="7" idx="3"/>
            <a:endCxn id="35" idx="0"/>
          </p:cNvCxnSpPr>
          <p:nvPr/>
        </p:nvCxnSpPr>
        <p:spPr>
          <a:xfrm>
            <a:off x="4953000" y="2628900"/>
            <a:ext cx="0" cy="190003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feld 39">
            <a:extLst>
              <a:ext uri="{FF2B5EF4-FFF2-40B4-BE49-F238E27FC236}">
                <a16:creationId xmlns:a16="http://schemas.microsoft.com/office/drawing/2014/main" id="{47844B84-8851-0C83-BB1A-D3B1CB919D4D}"/>
              </a:ext>
            </a:extLst>
          </p:cNvPr>
          <p:cNvSpPr txBox="1"/>
          <p:nvPr/>
        </p:nvSpPr>
        <p:spPr>
          <a:xfrm>
            <a:off x="4952999" y="3330232"/>
            <a:ext cx="1167307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add_new_user</a:t>
            </a:r>
            <a:r>
              <a:rPr lang="de-DE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(</a:t>
            </a:r>
            <a:r>
              <a:rPr lang="de-DE" sz="8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id</a:t>
            </a:r>
            <a:r>
              <a:rPr lang="de-DE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)</a:t>
            </a:r>
          </a:p>
          <a:p>
            <a:r>
              <a:rPr lang="de-DE" sz="8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add_new_source</a:t>
            </a:r>
            <a:r>
              <a:rPr lang="de-DE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(</a:t>
            </a:r>
            <a:r>
              <a:rPr lang="de-DE" sz="8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id</a:t>
            </a:r>
            <a:r>
              <a:rPr lang="de-DE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)</a:t>
            </a:r>
          </a:p>
          <a:p>
            <a:r>
              <a:rPr lang="de-DE" sz="8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add_link</a:t>
            </a:r>
            <a:r>
              <a:rPr lang="de-DE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(</a:t>
            </a:r>
            <a:r>
              <a:rPr lang="de-DE" sz="8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id</a:t>
            </a:r>
            <a:r>
              <a:rPr lang="de-DE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de-DE" sz="8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id</a:t>
            </a:r>
            <a:r>
              <a:rPr lang="de-DE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)</a:t>
            </a:r>
          </a:p>
          <a:p>
            <a:r>
              <a:rPr lang="de-DE" sz="8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remove_user</a:t>
            </a:r>
            <a:r>
              <a:rPr lang="de-DE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(</a:t>
            </a:r>
            <a:r>
              <a:rPr lang="de-DE" sz="8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id</a:t>
            </a:r>
            <a:r>
              <a:rPr lang="de-DE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)</a:t>
            </a:r>
          </a:p>
          <a:p>
            <a:r>
              <a:rPr lang="de-DE" sz="8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remove_source</a:t>
            </a:r>
            <a:r>
              <a:rPr lang="de-DE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(</a:t>
            </a:r>
            <a:r>
              <a:rPr lang="de-DE" sz="8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id</a:t>
            </a:r>
            <a:r>
              <a:rPr lang="de-DE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)</a:t>
            </a:r>
          </a:p>
          <a:p>
            <a:r>
              <a:rPr lang="de-DE" sz="8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remove_link</a:t>
            </a:r>
            <a:r>
              <a:rPr lang="de-DE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(</a:t>
            </a:r>
            <a:r>
              <a:rPr lang="de-DE" sz="8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id</a:t>
            </a:r>
            <a:r>
              <a:rPr lang="de-DE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de-DE" sz="8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id</a:t>
            </a:r>
            <a:r>
              <a:rPr lang="de-DE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)</a:t>
            </a:r>
            <a:endParaRPr lang="en-US" sz="800" dirty="0">
              <a:solidFill>
                <a:schemeClr val="tx1">
                  <a:lumMod val="50000"/>
                  <a:lumOff val="50000"/>
                </a:schemeClr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  <a:p>
            <a:r>
              <a:rPr lang="en-US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backup()</a:t>
            </a:r>
          </a:p>
          <a:p>
            <a:r>
              <a:rPr lang="en-US" sz="8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load_backup</a:t>
            </a:r>
            <a:r>
              <a:rPr lang="en-US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(backup)</a:t>
            </a: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3F75E0FF-8931-B5F6-2351-3B8AE548FABB}"/>
              </a:ext>
            </a:extLst>
          </p:cNvPr>
          <p:cNvSpPr/>
          <p:nvPr/>
        </p:nvSpPr>
        <p:spPr>
          <a:xfrm>
            <a:off x="8137711" y="6545066"/>
            <a:ext cx="1358153" cy="22860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00" dirty="0">
                <a:latin typeface="Roboto" panose="02000000000000000000" pitchFamily="2" charset="0"/>
                <a:ea typeface="Roboto" panose="02000000000000000000" pitchFamily="2" charset="0"/>
              </a:rPr>
              <a:t>Web frontend</a:t>
            </a:r>
            <a:endParaRPr lang="en-US" sz="10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pic>
        <p:nvPicPr>
          <p:cNvPr id="44" name="Grafik 43" descr="Zusammendrücken Vergrößern mit einfarbiger Füllung">
            <a:extLst>
              <a:ext uri="{FF2B5EF4-FFF2-40B4-BE49-F238E27FC236}">
                <a16:creationId xmlns:a16="http://schemas.microsoft.com/office/drawing/2014/main" id="{07C35C1A-CADE-9A88-D626-12CC34BC69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28665" y="5033682"/>
            <a:ext cx="593912" cy="593912"/>
          </a:xfrm>
          <a:prstGeom prst="rect">
            <a:avLst/>
          </a:prstGeom>
        </p:spPr>
      </p:pic>
      <p:pic>
        <p:nvPicPr>
          <p:cNvPr id="45" name="Grafik 44" descr="Zusammendrücken Vergrößern mit einfarbiger Füllung">
            <a:extLst>
              <a:ext uri="{FF2B5EF4-FFF2-40B4-BE49-F238E27FC236}">
                <a16:creationId xmlns:a16="http://schemas.microsoft.com/office/drawing/2014/main" id="{1C51EB5F-031D-532B-6FF0-63D8DFF74A2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937124" y="4528934"/>
            <a:ext cx="593912" cy="593912"/>
          </a:xfrm>
          <a:prstGeom prst="rect">
            <a:avLst/>
          </a:prstGeom>
        </p:spPr>
      </p:pic>
      <p:pic>
        <p:nvPicPr>
          <p:cNvPr id="46" name="Grafik 45" descr="Zusammendrücken Vergrößern mit einfarbiger Füllung">
            <a:extLst>
              <a:ext uri="{FF2B5EF4-FFF2-40B4-BE49-F238E27FC236}">
                <a16:creationId xmlns:a16="http://schemas.microsoft.com/office/drawing/2014/main" id="{24D22725-B990-2A7B-5F48-6E15858F064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631051" y="3429000"/>
            <a:ext cx="593912" cy="593912"/>
          </a:xfrm>
          <a:prstGeom prst="rect">
            <a:avLst/>
          </a:prstGeom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4EE99CF0-6E10-06D7-5B16-1C8318F0E202}"/>
              </a:ext>
            </a:extLst>
          </p:cNvPr>
          <p:cNvSpPr txBox="1"/>
          <p:nvPr/>
        </p:nvSpPr>
        <p:spPr>
          <a:xfrm>
            <a:off x="6344098" y="1427442"/>
            <a:ext cx="316706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/>
              <a:t>Security </a:t>
            </a:r>
            <a:r>
              <a:rPr lang="de-DE" sz="1400" dirty="0" err="1"/>
              <a:t>by</a:t>
            </a:r>
            <a:r>
              <a:rPr lang="de-DE" sz="1400" dirty="0"/>
              <a:t> </a:t>
            </a:r>
            <a:r>
              <a:rPr lang="de-DE" sz="1400" dirty="0" err="1"/>
              <a:t>auth_key</a:t>
            </a:r>
            <a:r>
              <a:rPr lang="de-DE" sz="1400" dirty="0"/>
              <a:t> + mac-</a:t>
            </a:r>
            <a:r>
              <a:rPr lang="de-DE" sz="1400" dirty="0" err="1"/>
              <a:t>address</a:t>
            </a:r>
            <a:r>
              <a:rPr lang="de-DE" sz="1400" dirty="0"/>
              <a:t> </a:t>
            </a:r>
            <a:r>
              <a:rPr lang="de-DE" sz="1400" dirty="0" err="1"/>
              <a:t>white</a:t>
            </a:r>
            <a:r>
              <a:rPr lang="de-DE" sz="1400" dirty="0"/>
              <a:t>-list + link-</a:t>
            </a:r>
            <a:r>
              <a:rPr lang="de-DE" sz="1400" dirty="0" err="1"/>
              <a:t>table</a:t>
            </a:r>
            <a:endParaRPr lang="en-US" sz="1400" dirty="0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5F2EAFA6-8363-1BC2-2607-8791588EB1B8}"/>
              </a:ext>
            </a:extLst>
          </p:cNvPr>
          <p:cNvSpPr txBox="1"/>
          <p:nvPr/>
        </p:nvSpPr>
        <p:spPr>
          <a:xfrm>
            <a:off x="1011609" y="1500096"/>
            <a:ext cx="462652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 dirty="0"/>
              <a:t>Security </a:t>
            </a:r>
            <a:r>
              <a:rPr lang="de-DE" sz="1400" dirty="0" err="1"/>
              <a:t>by</a:t>
            </a:r>
            <a:r>
              <a:rPr lang="de-DE" sz="1400" dirty="0"/>
              <a:t> </a:t>
            </a:r>
            <a:r>
              <a:rPr lang="de-DE" sz="1400" dirty="0" err="1"/>
              <a:t>auth_key</a:t>
            </a:r>
            <a:r>
              <a:rPr lang="de-DE" sz="1400" dirty="0"/>
              <a:t> + mac-</a:t>
            </a:r>
            <a:r>
              <a:rPr lang="de-DE" sz="1400" dirty="0" err="1"/>
              <a:t>address</a:t>
            </a:r>
            <a:r>
              <a:rPr lang="de-DE" sz="1400" dirty="0"/>
              <a:t> </a:t>
            </a:r>
            <a:r>
              <a:rPr lang="de-DE" sz="1400" dirty="0" err="1"/>
              <a:t>white</a:t>
            </a:r>
            <a:r>
              <a:rPr lang="de-DE" sz="1400" dirty="0"/>
              <a:t>-list + link-</a:t>
            </a:r>
            <a:r>
              <a:rPr lang="de-DE" sz="1400" dirty="0" err="1"/>
              <a:t>table</a:t>
            </a:r>
            <a:endParaRPr lang="en-US" sz="1400" dirty="0"/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7018E9F0-A788-C0E0-9CB3-ECC4DF57381C}"/>
              </a:ext>
            </a:extLst>
          </p:cNvPr>
          <p:cNvSpPr/>
          <p:nvPr/>
        </p:nvSpPr>
        <p:spPr>
          <a:xfrm>
            <a:off x="8057656" y="4217894"/>
            <a:ext cx="1167307" cy="2286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700" dirty="0">
                <a:solidFill>
                  <a:schemeClr val="tx1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private </a:t>
            </a:r>
            <a:r>
              <a:rPr lang="de-DE" sz="7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auth_key</a:t>
            </a:r>
            <a:endParaRPr lang="en-US" sz="700" dirty="0">
              <a:solidFill>
                <a:schemeClr val="tx1">
                  <a:lumMod val="75000"/>
                  <a:lumOff val="25000"/>
                </a:schemeClr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8C9BB353-0299-857B-A670-E3A873296693}"/>
              </a:ext>
            </a:extLst>
          </p:cNvPr>
          <p:cNvSpPr/>
          <p:nvPr/>
        </p:nvSpPr>
        <p:spPr>
          <a:xfrm>
            <a:off x="8710959" y="3036795"/>
            <a:ext cx="1167307" cy="2286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700" dirty="0">
                <a:solidFill>
                  <a:schemeClr val="tx1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private </a:t>
            </a:r>
            <a:r>
              <a:rPr lang="de-DE" sz="7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auth_key</a:t>
            </a:r>
            <a:endParaRPr lang="en-US" sz="700" dirty="0">
              <a:solidFill>
                <a:schemeClr val="tx1">
                  <a:lumMod val="75000"/>
                  <a:lumOff val="25000"/>
                </a:schemeClr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297E2B5D-6DEE-2632-E0FC-849FDBC9FD8D}"/>
              </a:ext>
            </a:extLst>
          </p:cNvPr>
          <p:cNvSpPr/>
          <p:nvPr/>
        </p:nvSpPr>
        <p:spPr>
          <a:xfrm>
            <a:off x="4369345" y="2764007"/>
            <a:ext cx="1167307" cy="2286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7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public</a:t>
            </a:r>
            <a:r>
              <a:rPr lang="de-DE" sz="700" dirty="0">
                <a:solidFill>
                  <a:schemeClr val="tx1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de-DE" sz="7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auth_key</a:t>
            </a:r>
            <a:endParaRPr lang="en-US" sz="700" dirty="0">
              <a:solidFill>
                <a:schemeClr val="tx1">
                  <a:lumMod val="75000"/>
                  <a:lumOff val="25000"/>
                </a:schemeClr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1E3E335F-AD13-E991-8C29-024DDE86F95B}"/>
              </a:ext>
            </a:extLst>
          </p:cNvPr>
          <p:cNvSpPr/>
          <p:nvPr/>
        </p:nvSpPr>
        <p:spPr>
          <a:xfrm>
            <a:off x="4369345" y="3019348"/>
            <a:ext cx="1167307" cy="2286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7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public</a:t>
            </a:r>
            <a:r>
              <a:rPr lang="de-DE" sz="700" dirty="0">
                <a:solidFill>
                  <a:schemeClr val="tx1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de-DE" sz="7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auth_key</a:t>
            </a:r>
            <a:endParaRPr lang="en-US" sz="700" dirty="0">
              <a:solidFill>
                <a:schemeClr val="tx1">
                  <a:lumMod val="75000"/>
                  <a:lumOff val="25000"/>
                </a:schemeClr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79C9461F-D00D-999F-98D0-69CDB729BE61}"/>
              </a:ext>
            </a:extLst>
          </p:cNvPr>
          <p:cNvSpPr/>
          <p:nvPr/>
        </p:nvSpPr>
        <p:spPr>
          <a:xfrm>
            <a:off x="2313412" y="3490786"/>
            <a:ext cx="1167307" cy="2286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700" dirty="0">
                <a:solidFill>
                  <a:schemeClr val="tx1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private </a:t>
            </a:r>
            <a:r>
              <a:rPr lang="de-DE" sz="7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auth_key</a:t>
            </a:r>
            <a:endParaRPr lang="en-US" sz="700" dirty="0">
              <a:solidFill>
                <a:schemeClr val="tx1">
                  <a:lumMod val="75000"/>
                  <a:lumOff val="25000"/>
                </a:schemeClr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7795FC20-4100-2EC0-8AF2-AEED84EE1048}"/>
              </a:ext>
            </a:extLst>
          </p:cNvPr>
          <p:cNvSpPr/>
          <p:nvPr/>
        </p:nvSpPr>
        <p:spPr>
          <a:xfrm>
            <a:off x="4380378" y="3529932"/>
            <a:ext cx="1167307" cy="22860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700" dirty="0">
                <a:solidFill>
                  <a:schemeClr val="tx1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Link-</a:t>
            </a:r>
            <a:r>
              <a:rPr lang="de-DE" sz="7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table</a:t>
            </a:r>
            <a:endParaRPr lang="en-US" sz="700" dirty="0">
              <a:solidFill>
                <a:schemeClr val="tx1">
                  <a:lumMod val="75000"/>
                  <a:lumOff val="25000"/>
                </a:schemeClr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C230194C-D3C4-A2F4-5D1A-6811EAA8E833}"/>
              </a:ext>
            </a:extLst>
          </p:cNvPr>
          <p:cNvSpPr/>
          <p:nvPr/>
        </p:nvSpPr>
        <p:spPr>
          <a:xfrm>
            <a:off x="4380378" y="3792632"/>
            <a:ext cx="1167307" cy="22860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7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mac-</a:t>
            </a:r>
            <a:r>
              <a:rPr lang="de-DE" sz="70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address</a:t>
            </a:r>
            <a:r>
              <a:rPr lang="de-DE" sz="7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de-DE" sz="70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white</a:t>
            </a:r>
            <a:r>
              <a:rPr lang="de-DE" sz="7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-list</a:t>
            </a:r>
            <a:endParaRPr lang="en-US" sz="70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6FF081F6-6499-69DC-2A0B-A62E865EFF97}"/>
              </a:ext>
            </a:extLst>
          </p:cNvPr>
          <p:cNvSpPr/>
          <p:nvPr/>
        </p:nvSpPr>
        <p:spPr>
          <a:xfrm>
            <a:off x="5547685" y="4938231"/>
            <a:ext cx="1167307" cy="2286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700" dirty="0">
                <a:solidFill>
                  <a:schemeClr val="tx1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private </a:t>
            </a:r>
            <a:r>
              <a:rPr lang="de-DE" sz="7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auth_key</a:t>
            </a:r>
            <a:r>
              <a:rPr lang="de-DE" sz="700" dirty="0">
                <a:solidFill>
                  <a:schemeClr val="tx1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???</a:t>
            </a:r>
            <a:endParaRPr lang="en-US" sz="700" dirty="0">
              <a:solidFill>
                <a:schemeClr val="tx1">
                  <a:lumMod val="75000"/>
                  <a:lumOff val="25000"/>
                </a:schemeClr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81CF9102-5848-6671-F7BF-5905E4C268DC}"/>
              </a:ext>
            </a:extLst>
          </p:cNvPr>
          <p:cNvSpPr/>
          <p:nvPr/>
        </p:nvSpPr>
        <p:spPr>
          <a:xfrm>
            <a:off x="4369345" y="3274322"/>
            <a:ext cx="1167307" cy="2286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7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public</a:t>
            </a:r>
            <a:r>
              <a:rPr lang="de-DE" sz="700" dirty="0">
                <a:solidFill>
                  <a:schemeClr val="tx1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de-DE" sz="7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auth_key</a:t>
            </a:r>
            <a:r>
              <a:rPr lang="de-DE" sz="700" dirty="0">
                <a:solidFill>
                  <a:schemeClr val="tx1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???</a:t>
            </a:r>
            <a:endParaRPr lang="en-US" sz="700" dirty="0">
              <a:solidFill>
                <a:schemeClr val="tx1">
                  <a:lumMod val="75000"/>
                  <a:lumOff val="25000"/>
                </a:schemeClr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7BC134E9-F005-A896-8F2C-C753D7531B45}"/>
              </a:ext>
            </a:extLst>
          </p:cNvPr>
          <p:cNvSpPr/>
          <p:nvPr/>
        </p:nvSpPr>
        <p:spPr>
          <a:xfrm>
            <a:off x="5547685" y="5201958"/>
            <a:ext cx="1167307" cy="2286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7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user:password</a:t>
            </a:r>
            <a:endParaRPr lang="en-US" sz="700" dirty="0">
              <a:solidFill>
                <a:schemeClr val="tx1">
                  <a:lumMod val="75000"/>
                  <a:lumOff val="25000"/>
                </a:schemeClr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3E2ECD59-6663-909A-3260-27376871ECAA}"/>
              </a:ext>
            </a:extLst>
          </p:cNvPr>
          <p:cNvSpPr/>
          <p:nvPr/>
        </p:nvSpPr>
        <p:spPr>
          <a:xfrm>
            <a:off x="4380658" y="4053529"/>
            <a:ext cx="1167307" cy="2286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7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user_hash:pw_hash</a:t>
            </a:r>
            <a:endParaRPr lang="en-US" sz="700" dirty="0">
              <a:solidFill>
                <a:schemeClr val="tx1">
                  <a:lumMod val="75000"/>
                  <a:lumOff val="25000"/>
                </a:schemeClr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130899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974DE6-EB93-B7ED-B555-8123169A1A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A2EB8BB-4D23-5554-BE77-0FEBBCD2BB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System Stack</a:t>
            </a:r>
            <a:endParaRPr lang="en-US" dirty="0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8509B2FA-A4DA-FD43-D762-07C94661B858}"/>
              </a:ext>
            </a:extLst>
          </p:cNvPr>
          <p:cNvSpPr/>
          <p:nvPr/>
        </p:nvSpPr>
        <p:spPr>
          <a:xfrm>
            <a:off x="1405218" y="4861111"/>
            <a:ext cx="1358153" cy="766483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>
                <a:latin typeface="Roboto" panose="02000000000000000000" pitchFamily="2" charset="0"/>
                <a:ea typeface="Roboto" panose="02000000000000000000" pitchFamily="2" charset="0"/>
              </a:rPr>
              <a:t>Kiln </a:t>
            </a:r>
            <a:r>
              <a:rPr lang="de-DE" sz="1200" dirty="0" err="1">
                <a:latin typeface="Roboto" panose="02000000000000000000" pitchFamily="2" charset="0"/>
                <a:ea typeface="Roboto" panose="02000000000000000000" pitchFamily="2" charset="0"/>
              </a:rPr>
              <a:t>Temperature</a:t>
            </a:r>
            <a:r>
              <a:rPr lang="de-DE" sz="1200" dirty="0">
                <a:latin typeface="Roboto" panose="02000000000000000000" pitchFamily="2" charset="0"/>
                <a:ea typeface="Roboto" panose="02000000000000000000" pitchFamily="2" charset="0"/>
              </a:rPr>
              <a:t> Display</a:t>
            </a:r>
            <a:endParaRPr lang="en-US" sz="12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5A762A61-AC23-0C1C-5D6F-138C65D7C1B2}"/>
              </a:ext>
            </a:extLst>
          </p:cNvPr>
          <p:cNvSpPr/>
          <p:nvPr/>
        </p:nvSpPr>
        <p:spPr>
          <a:xfrm>
            <a:off x="1405218" y="3926541"/>
            <a:ext cx="1358153" cy="766483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>
                <a:latin typeface="Roboto" panose="02000000000000000000" pitchFamily="2" charset="0"/>
                <a:ea typeface="Roboto" panose="02000000000000000000" pitchFamily="2" charset="0"/>
              </a:rPr>
              <a:t>USB-</a:t>
            </a:r>
            <a:r>
              <a:rPr lang="de-DE" sz="1200" dirty="0" err="1">
                <a:latin typeface="Roboto" panose="02000000000000000000" pitchFamily="2" charset="0"/>
                <a:ea typeface="Roboto" panose="02000000000000000000" pitchFamily="2" charset="0"/>
              </a:rPr>
              <a:t>Camera</a:t>
            </a:r>
            <a:endParaRPr lang="en-US" sz="12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2975F7BE-6FE3-6A04-78B2-E66475F6734A}"/>
              </a:ext>
            </a:extLst>
          </p:cNvPr>
          <p:cNvSpPr/>
          <p:nvPr/>
        </p:nvSpPr>
        <p:spPr>
          <a:xfrm>
            <a:off x="1405218" y="2991971"/>
            <a:ext cx="1358153" cy="766483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>
                <a:latin typeface="Roboto" panose="02000000000000000000" pitchFamily="2" charset="0"/>
                <a:ea typeface="Roboto" panose="02000000000000000000" pitchFamily="2" charset="0"/>
              </a:rPr>
              <a:t>Raspberry-Pi 3B</a:t>
            </a:r>
            <a:endParaRPr lang="en-US" sz="12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7" name="Zylinder 6">
            <a:extLst>
              <a:ext uri="{FF2B5EF4-FFF2-40B4-BE49-F238E27FC236}">
                <a16:creationId xmlns:a16="http://schemas.microsoft.com/office/drawing/2014/main" id="{1C2A7380-106C-FEE2-534B-711B92371469}"/>
              </a:ext>
            </a:extLst>
          </p:cNvPr>
          <p:cNvSpPr/>
          <p:nvPr/>
        </p:nvSpPr>
        <p:spPr>
          <a:xfrm>
            <a:off x="4380378" y="1862417"/>
            <a:ext cx="1145243" cy="766483"/>
          </a:xfrm>
          <a:prstGeom prst="can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>
                <a:latin typeface="Roboto" panose="02000000000000000000" pitchFamily="2" charset="0"/>
                <a:ea typeface="Roboto" panose="02000000000000000000" pitchFamily="2" charset="0"/>
              </a:rPr>
              <a:t>Web-Backend (AWS?)</a:t>
            </a:r>
            <a:endParaRPr lang="en-US" sz="12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480DAE37-5A1E-BADB-A27E-2CE858C92857}"/>
              </a:ext>
            </a:extLst>
          </p:cNvPr>
          <p:cNvSpPr/>
          <p:nvPr/>
        </p:nvSpPr>
        <p:spPr>
          <a:xfrm>
            <a:off x="7555004" y="2978524"/>
            <a:ext cx="1358153" cy="766483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>
                <a:latin typeface="Roboto" panose="02000000000000000000" pitchFamily="2" charset="0"/>
                <a:ea typeface="Roboto" panose="02000000000000000000" pitchFamily="2" charset="0"/>
              </a:rPr>
              <a:t>Mobile-App Frontend (Android)</a:t>
            </a:r>
            <a:endParaRPr lang="en-US" sz="12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718833A9-DE48-26FF-4F09-F47E55A35DFF}"/>
              </a:ext>
            </a:extLst>
          </p:cNvPr>
          <p:cNvSpPr/>
          <p:nvPr/>
        </p:nvSpPr>
        <p:spPr>
          <a:xfrm>
            <a:off x="466166" y="2373405"/>
            <a:ext cx="3240741" cy="3892923"/>
          </a:xfrm>
          <a:prstGeom prst="ellipse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90C96D14-AFEE-DC31-FAEB-0BEE791730E9}"/>
              </a:ext>
            </a:extLst>
          </p:cNvPr>
          <p:cNvSpPr txBox="1"/>
          <p:nvPr/>
        </p:nvSpPr>
        <p:spPr>
          <a:xfrm>
            <a:off x="1328997" y="5843039"/>
            <a:ext cx="148816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 dirty="0"/>
              <a:t>Kiln </a:t>
            </a:r>
            <a:r>
              <a:rPr lang="de-DE" sz="1400" dirty="0" err="1"/>
              <a:t>local</a:t>
            </a:r>
            <a:r>
              <a:rPr lang="de-DE" sz="1400" dirty="0"/>
              <a:t> </a:t>
            </a:r>
            <a:r>
              <a:rPr lang="de-DE" sz="1400" dirty="0" err="1"/>
              <a:t>system</a:t>
            </a:r>
            <a:endParaRPr lang="en-US" sz="1400" dirty="0"/>
          </a:p>
        </p:txBody>
      </p: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984681F8-360F-BA11-3E0B-EC8269A57332}"/>
              </a:ext>
            </a:extLst>
          </p:cNvPr>
          <p:cNvCxnSpPr>
            <a:stCxn id="6" idx="0"/>
            <a:endCxn id="7" idx="2"/>
          </p:cNvCxnSpPr>
          <p:nvPr/>
        </p:nvCxnSpPr>
        <p:spPr>
          <a:xfrm flipV="1">
            <a:off x="2084295" y="2245659"/>
            <a:ext cx="2296083" cy="74631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A5F81304-EBF1-257C-3417-620FD4F73563}"/>
              </a:ext>
            </a:extLst>
          </p:cNvPr>
          <p:cNvCxnSpPr>
            <a:stCxn id="7" idx="4"/>
            <a:endCxn id="8" idx="0"/>
          </p:cNvCxnSpPr>
          <p:nvPr/>
        </p:nvCxnSpPr>
        <p:spPr>
          <a:xfrm>
            <a:off x="5525621" y="2245659"/>
            <a:ext cx="2708460" cy="73286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hteck 14">
            <a:extLst>
              <a:ext uri="{FF2B5EF4-FFF2-40B4-BE49-F238E27FC236}">
                <a16:creationId xmlns:a16="http://schemas.microsoft.com/office/drawing/2014/main" id="{EE1997B1-335B-38F8-A479-10ED71F85A2A}"/>
              </a:ext>
            </a:extLst>
          </p:cNvPr>
          <p:cNvSpPr/>
          <p:nvPr/>
        </p:nvSpPr>
        <p:spPr>
          <a:xfrm>
            <a:off x="6879851" y="4094630"/>
            <a:ext cx="1358153" cy="766483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>
                <a:latin typeface="Roboto" panose="02000000000000000000" pitchFamily="2" charset="0"/>
                <a:ea typeface="Roboto" panose="02000000000000000000" pitchFamily="2" charset="0"/>
              </a:rPr>
              <a:t>Mobile-App Frontend (Android)</a:t>
            </a:r>
            <a:endParaRPr lang="en-US" sz="12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96AF5EB8-D7E2-FBB6-F771-ABD62B405B7B}"/>
              </a:ext>
            </a:extLst>
          </p:cNvPr>
          <p:cNvCxnSpPr>
            <a:stCxn id="7" idx="4"/>
            <a:endCxn id="15" idx="0"/>
          </p:cNvCxnSpPr>
          <p:nvPr/>
        </p:nvCxnSpPr>
        <p:spPr>
          <a:xfrm>
            <a:off x="5525621" y="2245659"/>
            <a:ext cx="2033307" cy="184897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7CDD27FD-8D5E-E1A8-F0DC-E577ED1CA05E}"/>
              </a:ext>
            </a:extLst>
          </p:cNvPr>
          <p:cNvCxnSpPr>
            <a:cxnSpLocks/>
            <a:stCxn id="4" idx="0"/>
            <a:endCxn id="5" idx="2"/>
          </p:cNvCxnSpPr>
          <p:nvPr/>
        </p:nvCxnSpPr>
        <p:spPr>
          <a:xfrm flipV="1">
            <a:off x="2084295" y="4693024"/>
            <a:ext cx="0" cy="1680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EECD025F-5F12-89B6-DC7F-FECF14C0EAFD}"/>
              </a:ext>
            </a:extLst>
          </p:cNvPr>
          <p:cNvCxnSpPr>
            <a:stCxn id="5" idx="0"/>
            <a:endCxn id="6" idx="2"/>
          </p:cNvCxnSpPr>
          <p:nvPr/>
        </p:nvCxnSpPr>
        <p:spPr>
          <a:xfrm flipV="1">
            <a:off x="2084295" y="3758454"/>
            <a:ext cx="0" cy="1680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hteck 26">
            <a:extLst>
              <a:ext uri="{FF2B5EF4-FFF2-40B4-BE49-F238E27FC236}">
                <a16:creationId xmlns:a16="http://schemas.microsoft.com/office/drawing/2014/main" id="{7E766D19-598B-E4AE-A2BD-6A774AF096FE}"/>
              </a:ext>
            </a:extLst>
          </p:cNvPr>
          <p:cNvSpPr/>
          <p:nvPr/>
        </p:nvSpPr>
        <p:spPr>
          <a:xfrm>
            <a:off x="8137711" y="5688106"/>
            <a:ext cx="1358153" cy="2286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00" dirty="0">
                <a:latin typeface="Roboto" panose="02000000000000000000" pitchFamily="2" charset="0"/>
                <a:ea typeface="Roboto" panose="02000000000000000000" pitchFamily="2" charset="0"/>
              </a:rPr>
              <a:t>Electric </a:t>
            </a:r>
            <a:r>
              <a:rPr lang="de-DE" sz="1000" dirty="0" err="1">
                <a:latin typeface="Roboto" panose="02000000000000000000" pitchFamily="2" charset="0"/>
                <a:ea typeface="Roboto" panose="02000000000000000000" pitchFamily="2" charset="0"/>
              </a:rPr>
              <a:t>device</a:t>
            </a:r>
            <a:endParaRPr lang="en-US" sz="10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41D70FEC-6A28-F1E3-E99D-536A31B19059}"/>
              </a:ext>
            </a:extLst>
          </p:cNvPr>
          <p:cNvSpPr/>
          <p:nvPr/>
        </p:nvSpPr>
        <p:spPr>
          <a:xfrm>
            <a:off x="8137711" y="5983480"/>
            <a:ext cx="1358153" cy="2286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00" dirty="0">
                <a:latin typeface="Roboto" panose="02000000000000000000" pitchFamily="2" charset="0"/>
                <a:ea typeface="Roboto" panose="02000000000000000000" pitchFamily="2" charset="0"/>
              </a:rPr>
              <a:t>Digital </a:t>
            </a:r>
            <a:r>
              <a:rPr lang="de-DE" sz="1000" dirty="0" err="1">
                <a:latin typeface="Roboto" panose="02000000000000000000" pitchFamily="2" charset="0"/>
                <a:ea typeface="Roboto" panose="02000000000000000000" pitchFamily="2" charset="0"/>
              </a:rPr>
              <a:t>device</a:t>
            </a:r>
            <a:endParaRPr lang="en-US" sz="10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578A6286-D2A2-7205-B6E0-D70AD1DF17A6}"/>
              </a:ext>
            </a:extLst>
          </p:cNvPr>
          <p:cNvSpPr/>
          <p:nvPr/>
        </p:nvSpPr>
        <p:spPr>
          <a:xfrm>
            <a:off x="8137711" y="6264273"/>
            <a:ext cx="1358153" cy="2286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00" dirty="0">
                <a:latin typeface="Roboto" panose="02000000000000000000" pitchFamily="2" charset="0"/>
                <a:ea typeface="Roboto" panose="02000000000000000000" pitchFamily="2" charset="0"/>
              </a:rPr>
              <a:t>Server</a:t>
            </a:r>
            <a:endParaRPr lang="en-US" sz="10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30" name="Textfeld 29">
            <a:extLst>
              <a:ext uri="{FF2B5EF4-FFF2-40B4-BE49-F238E27FC236}">
                <a16:creationId xmlns:a16="http://schemas.microsoft.com/office/drawing/2014/main" id="{03A44F11-F4B4-94BD-F206-3026388A661A}"/>
              </a:ext>
            </a:extLst>
          </p:cNvPr>
          <p:cNvSpPr txBox="1"/>
          <p:nvPr/>
        </p:nvSpPr>
        <p:spPr>
          <a:xfrm>
            <a:off x="2172504" y="4653957"/>
            <a:ext cx="66075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Photons</a:t>
            </a:r>
            <a:endParaRPr lang="en-US" sz="1000" dirty="0">
              <a:solidFill>
                <a:schemeClr val="tx1">
                  <a:lumMod val="50000"/>
                  <a:lumOff val="50000"/>
                </a:schemeClr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31" name="Textfeld 30">
            <a:extLst>
              <a:ext uri="{FF2B5EF4-FFF2-40B4-BE49-F238E27FC236}">
                <a16:creationId xmlns:a16="http://schemas.microsoft.com/office/drawing/2014/main" id="{30DBFB08-71A2-A9B5-8C97-36DB599E9E6D}"/>
              </a:ext>
            </a:extLst>
          </p:cNvPr>
          <p:cNvSpPr txBox="1"/>
          <p:nvPr/>
        </p:nvSpPr>
        <p:spPr>
          <a:xfrm>
            <a:off x="2172504" y="3719386"/>
            <a:ext cx="140134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Digital </a:t>
            </a:r>
            <a:r>
              <a:rPr lang="de-DE" sz="10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picture</a:t>
            </a:r>
            <a:r>
              <a:rPr lang="de-DE" sz="1000" dirty="0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 stream</a:t>
            </a:r>
            <a:endParaRPr lang="en-US" sz="1000" dirty="0">
              <a:solidFill>
                <a:schemeClr val="tx1">
                  <a:lumMod val="50000"/>
                  <a:lumOff val="50000"/>
                </a:schemeClr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32" name="Textfeld 31">
            <a:extLst>
              <a:ext uri="{FF2B5EF4-FFF2-40B4-BE49-F238E27FC236}">
                <a16:creationId xmlns:a16="http://schemas.microsoft.com/office/drawing/2014/main" id="{A74E195F-4649-D800-0830-6C1F97625C5A}"/>
              </a:ext>
            </a:extLst>
          </p:cNvPr>
          <p:cNvSpPr txBox="1"/>
          <p:nvPr/>
        </p:nvSpPr>
        <p:spPr>
          <a:xfrm>
            <a:off x="2179135" y="1666159"/>
            <a:ext cx="190789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get_current_temperature</a:t>
            </a:r>
            <a:r>
              <a:rPr lang="de-DE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()</a:t>
            </a:r>
          </a:p>
          <a:p>
            <a:r>
              <a:rPr lang="de-DE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update()</a:t>
            </a:r>
            <a:endParaRPr lang="en-US" sz="800" dirty="0">
              <a:solidFill>
                <a:schemeClr val="tx1">
                  <a:lumMod val="50000"/>
                  <a:lumOff val="50000"/>
                </a:schemeClr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  <a:p>
            <a:r>
              <a:rPr lang="en-US" sz="8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get_temperature_history</a:t>
            </a:r>
            <a:r>
              <a:rPr lang="en-US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(int seconds)</a:t>
            </a:r>
          </a:p>
          <a:p>
            <a:r>
              <a:rPr lang="en-US" sz="8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set_update_interval</a:t>
            </a:r>
            <a:r>
              <a:rPr lang="en-US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(int seconds)</a:t>
            </a:r>
          </a:p>
          <a:p>
            <a:r>
              <a:rPr lang="en-US" sz="8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register_status</a:t>
            </a:r>
            <a:r>
              <a:rPr lang="en-US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()</a:t>
            </a:r>
          </a:p>
        </p:txBody>
      </p:sp>
      <p:sp>
        <p:nvSpPr>
          <p:cNvPr id="33" name="Textfeld 32">
            <a:extLst>
              <a:ext uri="{FF2B5EF4-FFF2-40B4-BE49-F238E27FC236}">
                <a16:creationId xmlns:a16="http://schemas.microsoft.com/office/drawing/2014/main" id="{8B579EB5-1178-E524-B50D-219B61A438FF}"/>
              </a:ext>
            </a:extLst>
          </p:cNvPr>
          <p:cNvSpPr txBox="1"/>
          <p:nvPr/>
        </p:nvSpPr>
        <p:spPr>
          <a:xfrm>
            <a:off x="6670864" y="1927175"/>
            <a:ext cx="190789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get_current_temperature</a:t>
            </a:r>
            <a:r>
              <a:rPr lang="de-DE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()</a:t>
            </a:r>
          </a:p>
          <a:p>
            <a:r>
              <a:rPr lang="de-DE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update()</a:t>
            </a:r>
            <a:endParaRPr lang="en-US" sz="800" dirty="0">
              <a:solidFill>
                <a:schemeClr val="tx1">
                  <a:lumMod val="50000"/>
                  <a:lumOff val="50000"/>
                </a:schemeClr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  <a:p>
            <a:r>
              <a:rPr lang="en-US" sz="8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Get_temperature_history</a:t>
            </a:r>
            <a:r>
              <a:rPr lang="en-US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(int seconds)</a:t>
            </a:r>
          </a:p>
          <a:p>
            <a:r>
              <a:rPr lang="en-US" sz="8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Set_update_interval</a:t>
            </a:r>
            <a:r>
              <a:rPr lang="en-US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(int seconds)</a:t>
            </a: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28B42AFE-8F8D-4320-73A7-A6C481BBF3DF}"/>
              </a:ext>
            </a:extLst>
          </p:cNvPr>
          <p:cNvSpPr/>
          <p:nvPr/>
        </p:nvSpPr>
        <p:spPr>
          <a:xfrm>
            <a:off x="4273923" y="4528934"/>
            <a:ext cx="1358153" cy="766483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>
                <a:latin typeface="Roboto" panose="02000000000000000000" pitchFamily="2" charset="0"/>
                <a:ea typeface="Roboto" panose="02000000000000000000" pitchFamily="2" charset="0"/>
              </a:rPr>
              <a:t>Admin Frontend</a:t>
            </a:r>
            <a:endParaRPr lang="en-US" sz="12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E991BB9C-3C48-0A80-C74D-914FD3D2A523}"/>
              </a:ext>
            </a:extLst>
          </p:cNvPr>
          <p:cNvCxnSpPr>
            <a:stCxn id="7" idx="3"/>
            <a:endCxn id="35" idx="0"/>
          </p:cNvCxnSpPr>
          <p:nvPr/>
        </p:nvCxnSpPr>
        <p:spPr>
          <a:xfrm>
            <a:off x="4953000" y="2628900"/>
            <a:ext cx="0" cy="190003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feld 39">
            <a:extLst>
              <a:ext uri="{FF2B5EF4-FFF2-40B4-BE49-F238E27FC236}">
                <a16:creationId xmlns:a16="http://schemas.microsoft.com/office/drawing/2014/main" id="{987E39FD-8329-3880-83BF-BBBDCF14C6DC}"/>
              </a:ext>
            </a:extLst>
          </p:cNvPr>
          <p:cNvSpPr txBox="1"/>
          <p:nvPr/>
        </p:nvSpPr>
        <p:spPr>
          <a:xfrm>
            <a:off x="4952999" y="3330232"/>
            <a:ext cx="1167307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add_new_user</a:t>
            </a:r>
            <a:r>
              <a:rPr lang="de-DE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(</a:t>
            </a:r>
            <a:r>
              <a:rPr lang="de-DE" sz="8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id</a:t>
            </a:r>
            <a:r>
              <a:rPr lang="de-DE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)</a:t>
            </a:r>
          </a:p>
          <a:p>
            <a:r>
              <a:rPr lang="de-DE" sz="8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add_new_source</a:t>
            </a:r>
            <a:r>
              <a:rPr lang="de-DE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(</a:t>
            </a:r>
            <a:r>
              <a:rPr lang="de-DE" sz="8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id</a:t>
            </a:r>
            <a:r>
              <a:rPr lang="de-DE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)</a:t>
            </a:r>
          </a:p>
          <a:p>
            <a:r>
              <a:rPr lang="de-DE" sz="8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add_link</a:t>
            </a:r>
            <a:r>
              <a:rPr lang="de-DE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(</a:t>
            </a:r>
            <a:r>
              <a:rPr lang="de-DE" sz="8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id</a:t>
            </a:r>
            <a:r>
              <a:rPr lang="de-DE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de-DE" sz="8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id</a:t>
            </a:r>
            <a:r>
              <a:rPr lang="de-DE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)</a:t>
            </a:r>
          </a:p>
          <a:p>
            <a:r>
              <a:rPr lang="de-DE" sz="8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remove_user</a:t>
            </a:r>
            <a:r>
              <a:rPr lang="de-DE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(</a:t>
            </a:r>
            <a:r>
              <a:rPr lang="de-DE" sz="8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id</a:t>
            </a:r>
            <a:r>
              <a:rPr lang="de-DE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)</a:t>
            </a:r>
          </a:p>
          <a:p>
            <a:r>
              <a:rPr lang="de-DE" sz="8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remove_source</a:t>
            </a:r>
            <a:r>
              <a:rPr lang="de-DE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(</a:t>
            </a:r>
            <a:r>
              <a:rPr lang="de-DE" sz="8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id</a:t>
            </a:r>
            <a:r>
              <a:rPr lang="de-DE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)</a:t>
            </a:r>
          </a:p>
          <a:p>
            <a:r>
              <a:rPr lang="de-DE" sz="8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remove_link</a:t>
            </a:r>
            <a:r>
              <a:rPr lang="de-DE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(</a:t>
            </a:r>
            <a:r>
              <a:rPr lang="de-DE" sz="8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id</a:t>
            </a:r>
            <a:r>
              <a:rPr lang="de-DE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de-DE" sz="8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id</a:t>
            </a:r>
            <a:r>
              <a:rPr lang="de-DE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)</a:t>
            </a:r>
            <a:endParaRPr lang="en-US" sz="800" dirty="0">
              <a:solidFill>
                <a:schemeClr val="tx1">
                  <a:lumMod val="50000"/>
                  <a:lumOff val="50000"/>
                </a:schemeClr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  <a:p>
            <a:r>
              <a:rPr lang="en-US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backup()</a:t>
            </a:r>
          </a:p>
          <a:p>
            <a:r>
              <a:rPr lang="en-US" sz="8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load_backup</a:t>
            </a:r>
            <a:r>
              <a:rPr lang="en-US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(backup)</a:t>
            </a: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260F3848-01B8-FF76-443E-08175FD0DAED}"/>
              </a:ext>
            </a:extLst>
          </p:cNvPr>
          <p:cNvSpPr/>
          <p:nvPr/>
        </p:nvSpPr>
        <p:spPr>
          <a:xfrm>
            <a:off x="8137711" y="6545066"/>
            <a:ext cx="1358153" cy="22860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00" dirty="0">
                <a:latin typeface="Roboto" panose="02000000000000000000" pitchFamily="2" charset="0"/>
                <a:ea typeface="Roboto" panose="02000000000000000000" pitchFamily="2" charset="0"/>
              </a:rPr>
              <a:t>Web frontend</a:t>
            </a:r>
            <a:endParaRPr lang="en-US" sz="10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pic>
        <p:nvPicPr>
          <p:cNvPr id="44" name="Grafik 43" descr="Zusammendrücken Vergrößern mit einfarbiger Füllung">
            <a:extLst>
              <a:ext uri="{FF2B5EF4-FFF2-40B4-BE49-F238E27FC236}">
                <a16:creationId xmlns:a16="http://schemas.microsoft.com/office/drawing/2014/main" id="{E6F6B2CF-2426-4252-149C-D597D23C37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28665" y="5033682"/>
            <a:ext cx="593912" cy="593912"/>
          </a:xfrm>
          <a:prstGeom prst="rect">
            <a:avLst/>
          </a:prstGeom>
        </p:spPr>
      </p:pic>
      <p:pic>
        <p:nvPicPr>
          <p:cNvPr id="45" name="Grafik 44" descr="Zusammendrücken Vergrößern mit einfarbiger Füllung">
            <a:extLst>
              <a:ext uri="{FF2B5EF4-FFF2-40B4-BE49-F238E27FC236}">
                <a16:creationId xmlns:a16="http://schemas.microsoft.com/office/drawing/2014/main" id="{94114AFD-9E11-F332-2536-130F4E6777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937124" y="4528934"/>
            <a:ext cx="593912" cy="593912"/>
          </a:xfrm>
          <a:prstGeom prst="rect">
            <a:avLst/>
          </a:prstGeom>
        </p:spPr>
      </p:pic>
      <p:pic>
        <p:nvPicPr>
          <p:cNvPr id="46" name="Grafik 45" descr="Zusammendrücken Vergrößern mit einfarbiger Füllung">
            <a:extLst>
              <a:ext uri="{FF2B5EF4-FFF2-40B4-BE49-F238E27FC236}">
                <a16:creationId xmlns:a16="http://schemas.microsoft.com/office/drawing/2014/main" id="{9D5D3B13-1F07-9866-9B6A-5370FF09C4B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631051" y="3429000"/>
            <a:ext cx="593912" cy="593912"/>
          </a:xfrm>
          <a:prstGeom prst="rect">
            <a:avLst/>
          </a:prstGeom>
        </p:spPr>
      </p:pic>
      <p:sp>
        <p:nvSpPr>
          <p:cNvPr id="3" name="Ellipse 2">
            <a:extLst>
              <a:ext uri="{FF2B5EF4-FFF2-40B4-BE49-F238E27FC236}">
                <a16:creationId xmlns:a16="http://schemas.microsoft.com/office/drawing/2014/main" id="{68E941C5-37F1-4CB8-F4B6-BDFAFA808C76}"/>
              </a:ext>
            </a:extLst>
          </p:cNvPr>
          <p:cNvSpPr/>
          <p:nvPr/>
        </p:nvSpPr>
        <p:spPr>
          <a:xfrm>
            <a:off x="4228679" y="1199693"/>
            <a:ext cx="1448639" cy="554969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 err="1"/>
              <a:t>Supabase</a:t>
            </a:r>
            <a:r>
              <a:rPr lang="de-DE" sz="1200" dirty="0"/>
              <a:t> </a:t>
            </a:r>
            <a:r>
              <a:rPr lang="de-DE" sz="1200" dirty="0" err="1"/>
              <a:t>free</a:t>
            </a:r>
            <a:r>
              <a:rPr lang="de-DE" sz="1200" dirty="0"/>
              <a:t> plan</a:t>
            </a:r>
            <a:endParaRPr lang="en-US" sz="1200" dirty="0"/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57650C66-2104-9B23-D886-906DFA46B01B}"/>
              </a:ext>
            </a:extLst>
          </p:cNvPr>
          <p:cNvSpPr/>
          <p:nvPr/>
        </p:nvSpPr>
        <p:spPr>
          <a:xfrm>
            <a:off x="564358" y="2701039"/>
            <a:ext cx="1448639" cy="554969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/>
              <a:t>Nat. Python</a:t>
            </a:r>
          </a:p>
          <a:p>
            <a:pPr algn="ctr"/>
            <a:r>
              <a:rPr lang="de-DE" sz="1200" dirty="0"/>
              <a:t>Push </a:t>
            </a:r>
            <a:r>
              <a:rPr lang="de-DE" sz="1200" dirty="0" err="1"/>
              <a:t>only</a:t>
            </a:r>
            <a:endParaRPr lang="en-US" sz="1200" dirty="0"/>
          </a:p>
        </p:txBody>
      </p:sp>
      <p:sp>
        <p:nvSpPr>
          <p:cNvPr id="13" name="Ellipse 12">
            <a:extLst>
              <a:ext uri="{FF2B5EF4-FFF2-40B4-BE49-F238E27FC236}">
                <a16:creationId xmlns:a16="http://schemas.microsoft.com/office/drawing/2014/main" id="{FCB55696-F46E-D1C9-64C3-B8E0CD0A85DC}"/>
              </a:ext>
            </a:extLst>
          </p:cNvPr>
          <p:cNvSpPr/>
          <p:nvPr/>
        </p:nvSpPr>
        <p:spPr>
          <a:xfrm>
            <a:off x="8219300" y="2648793"/>
            <a:ext cx="1448639" cy="554969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 err="1"/>
              <a:t>tbd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2702347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04ADB8F-D40B-8A0B-85C7-D97EB3FDE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Local</a:t>
            </a:r>
            <a:r>
              <a:rPr lang="de-DE" dirty="0"/>
              <a:t> Kiln System</a:t>
            </a:r>
            <a:endParaRPr lang="en-US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DFC4A6A4-567F-1F97-9E04-8DC97B5ED0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5668" y="180170"/>
            <a:ext cx="1386386" cy="1597404"/>
          </a:xfrm>
          <a:prstGeom prst="rect">
            <a:avLst/>
          </a:prstGeom>
        </p:spPr>
      </p:pic>
      <p:sp>
        <p:nvSpPr>
          <p:cNvPr id="7" name="Zylinder 6">
            <a:extLst>
              <a:ext uri="{FF2B5EF4-FFF2-40B4-BE49-F238E27FC236}">
                <a16:creationId xmlns:a16="http://schemas.microsoft.com/office/drawing/2014/main" id="{64F91DEF-C785-C3EF-CE17-11AE27D38B69}"/>
              </a:ext>
            </a:extLst>
          </p:cNvPr>
          <p:cNvSpPr/>
          <p:nvPr/>
        </p:nvSpPr>
        <p:spPr>
          <a:xfrm>
            <a:off x="8212790" y="2158789"/>
            <a:ext cx="1145243" cy="766483"/>
          </a:xfrm>
          <a:prstGeom prst="can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>
                <a:latin typeface="Roboto" panose="02000000000000000000" pitchFamily="2" charset="0"/>
                <a:ea typeface="Roboto" panose="02000000000000000000" pitchFamily="2" charset="0"/>
              </a:rPr>
              <a:t>Web-Backend (AWS?)</a:t>
            </a:r>
            <a:endParaRPr lang="en-US" sz="12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7C0CEC2C-B0D7-303F-5954-37B3DB799CBF}"/>
              </a:ext>
            </a:extLst>
          </p:cNvPr>
          <p:cNvCxnSpPr>
            <a:cxnSpLocks/>
            <a:endCxn id="7" idx="2"/>
          </p:cNvCxnSpPr>
          <p:nvPr/>
        </p:nvCxnSpPr>
        <p:spPr>
          <a:xfrm flipV="1">
            <a:off x="5916707" y="2542031"/>
            <a:ext cx="2296083" cy="74631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feld 8">
            <a:extLst>
              <a:ext uri="{FF2B5EF4-FFF2-40B4-BE49-F238E27FC236}">
                <a16:creationId xmlns:a16="http://schemas.microsoft.com/office/drawing/2014/main" id="{01A7B2AE-8177-DBEB-E925-77A263E855DA}"/>
              </a:ext>
            </a:extLst>
          </p:cNvPr>
          <p:cNvSpPr txBox="1"/>
          <p:nvPr/>
        </p:nvSpPr>
        <p:spPr>
          <a:xfrm>
            <a:off x="6011547" y="1962531"/>
            <a:ext cx="190789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get_current_temperature</a:t>
            </a:r>
            <a:r>
              <a:rPr lang="de-DE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()</a:t>
            </a:r>
          </a:p>
          <a:p>
            <a:r>
              <a:rPr lang="de-DE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update()</a:t>
            </a:r>
            <a:endParaRPr lang="en-US" sz="800" dirty="0">
              <a:solidFill>
                <a:schemeClr val="tx1">
                  <a:lumMod val="50000"/>
                  <a:lumOff val="50000"/>
                </a:schemeClr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  <a:p>
            <a:r>
              <a:rPr lang="en-US" sz="8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get_temperature_history</a:t>
            </a:r>
            <a:r>
              <a:rPr lang="en-US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(int seconds)</a:t>
            </a:r>
          </a:p>
          <a:p>
            <a:r>
              <a:rPr lang="en-US" sz="8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set_update_interval</a:t>
            </a:r>
            <a:r>
              <a:rPr lang="en-US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(int seconds)</a:t>
            </a:r>
          </a:p>
          <a:p>
            <a:r>
              <a:rPr lang="en-US" sz="8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register_status</a:t>
            </a:r>
            <a:r>
              <a:rPr lang="en-US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()</a:t>
            </a:r>
          </a:p>
        </p:txBody>
      </p:sp>
      <p:sp>
        <p:nvSpPr>
          <p:cNvPr id="16" name="Flussdiagramm: Prozess 15">
            <a:extLst>
              <a:ext uri="{FF2B5EF4-FFF2-40B4-BE49-F238E27FC236}">
                <a16:creationId xmlns:a16="http://schemas.microsoft.com/office/drawing/2014/main" id="{3B67F2D5-BB0F-B39E-DD9B-A514954CA515}"/>
              </a:ext>
            </a:extLst>
          </p:cNvPr>
          <p:cNvSpPr/>
          <p:nvPr/>
        </p:nvSpPr>
        <p:spPr>
          <a:xfrm>
            <a:off x="891988" y="2037229"/>
            <a:ext cx="4061012" cy="3926541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200" i="1" dirty="0" err="1">
                <a:latin typeface="Roboto" panose="02000000000000000000" pitchFamily="2" charset="0"/>
                <a:ea typeface="Roboto" panose="02000000000000000000" pitchFamily="2" charset="0"/>
              </a:rPr>
              <a:t>kiln_temperature_observer</a:t>
            </a:r>
            <a:endParaRPr lang="en-US" sz="1200" i="1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15561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573</Words>
  <Application>Microsoft Office PowerPoint</Application>
  <PresentationFormat>A4-Papier (210 x 297 mm)</PresentationFormat>
  <Paragraphs>123</Paragraphs>
  <Slides>5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5</vt:i4>
      </vt:variant>
    </vt:vector>
  </HeadingPairs>
  <TitlesOfParts>
    <vt:vector size="10" baseType="lpstr">
      <vt:lpstr>Aptos</vt:lpstr>
      <vt:lpstr>Aptos Display</vt:lpstr>
      <vt:lpstr>Arial</vt:lpstr>
      <vt:lpstr>Roboto</vt:lpstr>
      <vt:lpstr>Office</vt:lpstr>
      <vt:lpstr>MyKilnBuddy</vt:lpstr>
      <vt:lpstr>System Architecture</vt:lpstr>
      <vt:lpstr>Security Architecture</vt:lpstr>
      <vt:lpstr>System Stack</vt:lpstr>
      <vt:lpstr>Local Kiln System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Martin Ruchti</dc:creator>
  <cp:lastModifiedBy>Martin Ruchti</cp:lastModifiedBy>
  <cp:revision>33</cp:revision>
  <dcterms:created xsi:type="dcterms:W3CDTF">2026-03-15T15:25:13Z</dcterms:created>
  <dcterms:modified xsi:type="dcterms:W3CDTF">2026-03-17T10:46:31Z</dcterms:modified>
</cp:coreProperties>
</file>